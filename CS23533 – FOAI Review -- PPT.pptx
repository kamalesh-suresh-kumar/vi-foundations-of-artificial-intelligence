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3"/>
  </p:notesMasterIdLst>
  <p:sldIdLst>
    <p:sldId id="256" r:id="rId2"/>
    <p:sldId id="257" r:id="rId3"/>
    <p:sldId id="379" r:id="rId4"/>
    <p:sldId id="373" r:id="rId5"/>
    <p:sldId id="374" r:id="rId6"/>
    <p:sldId id="387" r:id="rId7"/>
    <p:sldId id="388" r:id="rId8"/>
    <p:sldId id="389" r:id="rId9"/>
    <p:sldId id="390" r:id="rId10"/>
    <p:sldId id="391" r:id="rId11"/>
    <p:sldId id="392" r:id="rId12"/>
    <p:sldId id="381" r:id="rId13"/>
    <p:sldId id="372" r:id="rId14"/>
    <p:sldId id="382" r:id="rId15"/>
    <p:sldId id="383" r:id="rId16"/>
    <p:sldId id="393" r:id="rId17"/>
    <p:sldId id="384" r:id="rId18"/>
    <p:sldId id="376" r:id="rId19"/>
    <p:sldId id="385" r:id="rId20"/>
    <p:sldId id="386" r:id="rId21"/>
    <p:sldId id="37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pPr/>
              <a:t>30-10-2025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pPr/>
              <a:t>‹#›</a:t>
            </a:fld>
            <a:endParaRPr lang="en-IN"/>
          </a:p>
        </p:txBody>
      </p:sp>
    </p:spTree>
    <p:extLst>
      <p:ext uri="{BB962C8B-B14F-4D97-AF65-F5344CB8AC3E}">
        <p14:creationId xmlns:p14="http://schemas.microsoft.com/office/powerpoint/2010/main" val="1982677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anose="05000000000000000000" pitchFamily="2" charset="2"/>
              <a:buNone/>
              <a:defRPr sz="2800"/>
            </a:lvl1pPr>
          </a:lstStyle>
          <a:p>
            <a:r>
              <a:rPr lang="en-US"/>
              <a:t>Click to edit Master subtitle style</a:t>
            </a:r>
          </a:p>
        </p:txBody>
      </p:sp>
      <p:sp>
        <p:nvSpPr>
          <p:cNvPr id="3" name="Date Placeholder 2"/>
          <p:cNvSpPr>
            <a:spLocks noGrp="1" noChangeArrowheads="1"/>
          </p:cNvSpPr>
          <p:nvPr>
            <p:ph type="dt" sz="half" idx="10"/>
          </p:nvPr>
        </p:nvSpPr>
        <p:spPr>
          <a:xfrm>
            <a:off x="914400" y="6248400"/>
            <a:ext cx="2540000" cy="457200"/>
          </a:xfrm>
        </p:spPr>
        <p:txBody>
          <a:bodyPr/>
          <a:lstStyle>
            <a:lvl1pPr>
              <a:defRPr/>
            </a:lvl1pPr>
          </a:lstStyle>
          <a:p>
            <a:pPr>
              <a:defRPr/>
            </a:pPr>
            <a:r>
              <a:rPr lang="en-US"/>
              <a:t>Zeroth Review</a:t>
            </a:r>
          </a:p>
        </p:txBody>
      </p:sp>
      <p:sp>
        <p:nvSpPr>
          <p:cNvPr id="4" name="Footer Placeholder 3"/>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p>
        </p:txBody>
      </p:sp>
      <p:sp>
        <p:nvSpPr>
          <p:cNvPr id="5" name="Slide Number Placeholder 4"/>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BDC2143B-610F-499C-A392-DFFBE135A7B2}"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575C213C-AC18-4D5A-BA73-4550FF50B842}"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7A8ED4EA-E359-45F1-B86A-A40772B25C23}" type="slidenum">
              <a:rPr lang="en-US" altLang="en-US"/>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p:txBody>
          <a:bodyPr/>
          <a:lstStyle>
            <a:lvl1pPr>
              <a:defRPr/>
            </a:lvl1pPr>
          </a:lstStyle>
          <a:p>
            <a:pPr>
              <a:defRPr/>
            </a:pPr>
            <a:r>
              <a:rPr lang="en-US"/>
              <a:t>Zeroth Review</a:t>
            </a:r>
          </a:p>
        </p:txBody>
      </p:sp>
      <p:sp>
        <p:nvSpPr>
          <p:cNvPr id="8"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9" name="Rectangle 8"/>
          <p:cNvSpPr>
            <a:spLocks noGrp="1" noChangeArrowheads="1"/>
          </p:cNvSpPr>
          <p:nvPr>
            <p:ph type="sldNum" sz="quarter" idx="12"/>
          </p:nvPr>
        </p:nvSpPr>
        <p:spPr/>
        <p:txBody>
          <a:bodyPr/>
          <a:lstStyle>
            <a:lvl1pPr>
              <a:defRPr/>
            </a:lvl1pPr>
          </a:lstStyle>
          <a:p>
            <a:pPr>
              <a:defRPr/>
            </a:pPr>
            <a:fld id="{E637AD66-1F60-49BE-A2E9-D91D10CB91F3}" type="slidenum">
              <a:rPr lang="en-US" altLang="en-US"/>
              <a:pPr>
                <a:defRPr/>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p:txBody>
          <a:bodyPr/>
          <a:lstStyle>
            <a:lvl1pPr>
              <a:defRPr/>
            </a:lvl1pPr>
          </a:lstStyle>
          <a:p>
            <a:pPr>
              <a:defRPr/>
            </a:pPr>
            <a:r>
              <a:rPr lang="en-US"/>
              <a:t>Zeroth Review</a:t>
            </a:r>
          </a:p>
        </p:txBody>
      </p:sp>
      <p:sp>
        <p:nvSpPr>
          <p:cNvPr id="4"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5" name="Rectangle 8"/>
          <p:cNvSpPr>
            <a:spLocks noGrp="1" noChangeArrowheads="1"/>
          </p:cNvSpPr>
          <p:nvPr>
            <p:ph type="sldNum" sz="quarter" idx="12"/>
          </p:nvPr>
        </p:nvSpPr>
        <p:spPr/>
        <p:txBody>
          <a:bodyPr/>
          <a:lstStyle>
            <a:lvl1pPr>
              <a:defRPr/>
            </a:lvl1pPr>
          </a:lstStyle>
          <a:p>
            <a:pPr>
              <a:defRPr/>
            </a:pPr>
            <a:fld id="{F583B680-F650-469F-A231-392F163461F6}" type="slidenum">
              <a:rPr lang="en-US" altLang="en-US"/>
              <a:pPr>
                <a:defRPr/>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r>
              <a:rPr lang="en-US"/>
              <a:t>Zeroth Review</a:t>
            </a:r>
          </a:p>
        </p:txBody>
      </p:sp>
      <p:sp>
        <p:nvSpPr>
          <p:cNvPr id="3"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4" name="Rectangle 8"/>
          <p:cNvSpPr>
            <a:spLocks noGrp="1" noChangeArrowheads="1"/>
          </p:cNvSpPr>
          <p:nvPr>
            <p:ph type="sldNum" sz="quarter" idx="12"/>
          </p:nvPr>
        </p:nvSpPr>
        <p:spPr/>
        <p:txBody>
          <a:bodyPr/>
          <a:lstStyle>
            <a:lvl1pPr>
              <a:defRPr/>
            </a:lvl1pPr>
          </a:lstStyle>
          <a:p>
            <a:pPr>
              <a:defRPr/>
            </a:pPr>
            <a:fld id="{DD537315-F462-4C74-88B4-A900525A3FAA}" type="slidenum">
              <a:rPr lang="en-US" altLang="en-US"/>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379B2829-DA13-4801-8FBD-6D5729CB9593}"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B5B0EEF8-84AE-4BCB-9844-5B22523396C9}" type="slidenum">
              <a:rPr lang="en-US" altLang="en-US"/>
              <a:pPr>
                <a:defRPr/>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5367E6EB-B6CA-430B-8761-75C737CF7AF1}"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3031276A-AAE7-4DAF-B5DC-CD9EE96B703D}"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US" altLang="en-US"/>
              <a:t>Click to edit Master title style</a:t>
            </a:r>
          </a:p>
        </p:txBody>
      </p:sp>
      <p:sp>
        <p:nvSpPr>
          <p:cNvPr id="1027" name="Rectangle 3"/>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en-IN" sz="1800"/>
          </a:p>
        </p:txBody>
      </p:sp>
      <p:sp>
        <p:nvSpPr>
          <p:cNvPr id="1029" name="Line 5"/>
          <p:cNvSpPr>
            <a:spLocks noChangeShapeType="1"/>
          </p:cNvSpPr>
          <p:nvPr/>
        </p:nvSpPr>
        <p:spPr bwMode="auto">
          <a:xfrm flipV="1">
            <a:off x="812800" y="6172200"/>
            <a:ext cx="105664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en-IN" sz="1800"/>
          </a:p>
        </p:txBody>
      </p:sp>
      <p:sp>
        <p:nvSpPr>
          <p:cNvPr id="4102"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cs typeface="+mn-cs"/>
              </a:defRPr>
            </a:lvl1pPr>
          </a:lstStyle>
          <a:p>
            <a:pPr>
              <a:defRPr/>
            </a:pPr>
            <a:r>
              <a:rPr lang="en-US"/>
              <a:t>Zeroth Review</a:t>
            </a:r>
          </a:p>
        </p:txBody>
      </p:sp>
      <p:sp>
        <p:nvSpPr>
          <p:cNvPr id="4103"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cs typeface="+mn-cs"/>
              </a:defRPr>
            </a:lvl1pPr>
          </a:lstStyle>
          <a:p>
            <a:pPr>
              <a:defRPr/>
            </a:pPr>
            <a:r>
              <a:rPr lang="en-US"/>
              <a:t>Department of Computer Science and Engineering</a:t>
            </a:r>
          </a:p>
        </p:txBody>
      </p:sp>
      <p:sp>
        <p:nvSpPr>
          <p:cNvPr id="4104"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smtClean="0"/>
            </a:lvl1pPr>
          </a:lstStyle>
          <a:p>
            <a:pPr>
              <a:defRPr/>
            </a:pPr>
            <a:fld id="{756AFA5A-A15D-402B-9810-66A481E9819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defRPr>
      </a:lvl2pPr>
      <a:lvl3pPr algn="l" rtl="0" eaLnBrk="0" fontAlgn="base" hangingPunct="0">
        <a:spcBef>
          <a:spcPct val="0"/>
        </a:spcBef>
        <a:spcAft>
          <a:spcPct val="0"/>
        </a:spcAft>
        <a:defRPr sz="3800">
          <a:solidFill>
            <a:schemeClr val="tx2"/>
          </a:solidFill>
          <a:latin typeface="Verdana" panose="020B0604030504040204" pitchFamily="34" charset="0"/>
        </a:defRPr>
      </a:lvl3pPr>
      <a:lvl4pPr algn="l" rtl="0" eaLnBrk="0" fontAlgn="base" hangingPunct="0">
        <a:spcBef>
          <a:spcPct val="0"/>
        </a:spcBef>
        <a:spcAft>
          <a:spcPct val="0"/>
        </a:spcAft>
        <a:defRPr sz="3800">
          <a:solidFill>
            <a:schemeClr val="tx2"/>
          </a:solidFill>
          <a:latin typeface="Verdana" panose="020B0604030504040204" pitchFamily="34" charset="0"/>
        </a:defRPr>
      </a:lvl4pPr>
      <a:lvl5pPr algn="l" rtl="0" eaLnBrk="0" fontAlgn="base" hangingPunct="0">
        <a:spcBef>
          <a:spcPct val="0"/>
        </a:spcBef>
        <a:spcAft>
          <a:spcPct val="0"/>
        </a:spcAft>
        <a:defRPr sz="3800">
          <a:solidFill>
            <a:schemeClr val="tx2"/>
          </a:solidFill>
          <a:latin typeface="Verdana" panose="020B0604030504040204" pitchFamily="34" charset="0"/>
        </a:defRPr>
      </a:lvl5pPr>
      <a:lvl6pPr marL="457200" algn="l" rtl="0" fontAlgn="base">
        <a:spcBef>
          <a:spcPct val="0"/>
        </a:spcBef>
        <a:spcAft>
          <a:spcPct val="0"/>
        </a:spcAft>
        <a:defRPr sz="3800">
          <a:solidFill>
            <a:schemeClr val="tx2"/>
          </a:solidFill>
          <a:latin typeface="Verdana" panose="020B0604030504040204" pitchFamily="34" charset="0"/>
        </a:defRPr>
      </a:lvl6pPr>
      <a:lvl7pPr marL="914400" algn="l" rtl="0" fontAlgn="base">
        <a:spcBef>
          <a:spcPct val="0"/>
        </a:spcBef>
        <a:spcAft>
          <a:spcPct val="0"/>
        </a:spcAft>
        <a:defRPr sz="3800">
          <a:solidFill>
            <a:schemeClr val="tx2"/>
          </a:solidFill>
          <a:latin typeface="Verdana" panose="020B0604030504040204" pitchFamily="34" charset="0"/>
        </a:defRPr>
      </a:lvl7pPr>
      <a:lvl8pPr marL="1371600" algn="l" rtl="0" fontAlgn="base">
        <a:spcBef>
          <a:spcPct val="0"/>
        </a:spcBef>
        <a:spcAft>
          <a:spcPct val="0"/>
        </a:spcAft>
        <a:defRPr sz="3800">
          <a:solidFill>
            <a:schemeClr val="tx2"/>
          </a:solidFill>
          <a:latin typeface="Verdana" panose="020B0604030504040204" pitchFamily="34" charset="0"/>
        </a:defRPr>
      </a:lvl8pPr>
      <a:lvl9pPr marL="1828800" algn="l" rtl="0" fontAlgn="base">
        <a:spcBef>
          <a:spcPct val="0"/>
        </a:spcBef>
        <a:spcAft>
          <a:spcPct val="0"/>
        </a:spcAft>
        <a:defRPr sz="3800">
          <a:solidFill>
            <a:schemeClr val="tx2"/>
          </a:solidFill>
          <a:latin typeface="Verdana" panose="020B0604030504040204"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7.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4"/>
          <a:stretch>
            <a:fillRect/>
          </a:stretch>
        </p:blipFill>
        <p:spPr>
          <a:xfrm>
            <a:off x="11111491" y="64077"/>
            <a:ext cx="1000125" cy="1143000"/>
          </a:xfrm>
          <a:prstGeom prst="rect">
            <a:avLst/>
          </a:prstGeom>
        </p:spPr>
      </p:pic>
      <p:sp>
        <p:nvSpPr>
          <p:cNvPr id="9" name="Title 1"/>
          <p:cNvSpPr txBox="1"/>
          <p:nvPr/>
        </p:nvSpPr>
        <p:spPr>
          <a:xfrm>
            <a:off x="789712" y="2530618"/>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b="1" dirty="0">
                <a:solidFill>
                  <a:srgbClr val="7030A0"/>
                </a:solidFill>
                <a:latin typeface="Verdana" panose="020B0604030504040204" pitchFamily="34" charset="0"/>
                <a:ea typeface="+mn-ea"/>
                <a:cs typeface="+mn-cs"/>
              </a:rPr>
              <a:t>Nutritionist Generative AI Doctor using Gemini</a:t>
            </a:r>
          </a:p>
        </p:txBody>
      </p:sp>
      <p:sp>
        <p:nvSpPr>
          <p:cNvPr id="10" name="TextBox 1"/>
          <p:cNvSpPr txBox="1">
            <a:spLocks noChangeArrowheads="1"/>
          </p:cNvSpPr>
          <p:nvPr/>
        </p:nvSpPr>
        <p:spPr bwMode="auto">
          <a:xfrm>
            <a:off x="224446" y="4629904"/>
            <a:ext cx="7606144"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US" altLang="en-US" sz="2400" b="1" dirty="0">
                <a:solidFill>
                  <a:srgbClr val="FF0000"/>
                </a:solidFill>
                <a:latin typeface="Times New Roman" panose="02020603050405020304" pitchFamily="18" charset="0"/>
                <a:cs typeface="Times New Roman" panose="02020603050405020304" pitchFamily="18" charset="0"/>
              </a:rPr>
              <a:t>Ms. M </a:t>
            </a:r>
            <a:r>
              <a:rPr lang="en-US" altLang="en-US" sz="2400" b="1" dirty="0" err="1">
                <a:solidFill>
                  <a:srgbClr val="FF0000"/>
                </a:solidFill>
                <a:latin typeface="Times New Roman" panose="02020603050405020304" pitchFamily="18" charset="0"/>
                <a:cs typeface="Times New Roman" panose="02020603050405020304" pitchFamily="18" charset="0"/>
              </a:rPr>
              <a:t>Anitha</a:t>
            </a:r>
            <a:r>
              <a:rPr lang="en-US" altLang="en-US" sz="2400" b="1" dirty="0" smtClean="0">
                <a:solidFill>
                  <a:srgbClr val="FF0000"/>
                </a:solidFill>
                <a:latin typeface="Times New Roman" panose="02020603050405020304" pitchFamily="18" charset="0"/>
                <a:cs typeface="Times New Roman" panose="02020603050405020304" pitchFamily="18" charset="0"/>
              </a:rPr>
              <a:t>, M.E</a:t>
            </a:r>
            <a:r>
              <a:rPr lang="en-US" altLang="en-US" sz="2400" b="1" dirty="0">
                <a:solidFill>
                  <a:srgbClr val="FF0000"/>
                </a:solidFill>
                <a:latin typeface="Times New Roman" panose="02020603050405020304" pitchFamily="18" charset="0"/>
                <a:cs typeface="Times New Roman" panose="02020603050405020304" pitchFamily="18" charset="0"/>
              </a:rPr>
              <a:t>., (Ph.D</a:t>
            </a:r>
            <a:r>
              <a:rPr lang="en-US" altLang="en-US" sz="2400" b="1" dirty="0" smtClean="0">
                <a:solidFill>
                  <a:srgbClr val="FF0000"/>
                </a:solidFill>
                <a:latin typeface="Times New Roman" panose="02020603050405020304" pitchFamily="18" charset="0"/>
                <a:cs typeface="Times New Roman" panose="02020603050405020304" pitchFamily="18" charset="0"/>
              </a:rPr>
              <a:t>.)</a:t>
            </a:r>
          </a:p>
          <a:p>
            <a:pPr>
              <a:spcBef>
                <a:spcPct val="0"/>
              </a:spcBef>
              <a:buClrTx/>
              <a:buFontTx/>
              <a:buNone/>
            </a:pPr>
            <a:r>
              <a:rPr lang="en-US" altLang="en-US" sz="2400" b="1" dirty="0" smtClean="0">
                <a:solidFill>
                  <a:srgbClr val="FF0000"/>
                </a:solidFill>
                <a:latin typeface="Times New Roman" panose="02020603050405020304" pitchFamily="18" charset="0"/>
                <a:cs typeface="Times New Roman" panose="02020603050405020304" pitchFamily="18" charset="0"/>
              </a:rPr>
              <a:t>Assistant </a:t>
            </a:r>
            <a:r>
              <a:rPr lang="en-US" altLang="en-US" sz="2400" b="1" dirty="0">
                <a:solidFill>
                  <a:srgbClr val="FF0000"/>
                </a:solidFill>
                <a:latin typeface="Times New Roman" panose="02020603050405020304" pitchFamily="18" charset="0"/>
                <a:cs typeface="Times New Roman" panose="02020603050405020304" pitchFamily="18" charset="0"/>
              </a:rPr>
              <a:t>Professor</a:t>
            </a:r>
            <a:r>
              <a:rPr lang="en-US" altLang="en-US" sz="2400" b="1" dirty="0" smtClean="0">
                <a:solidFill>
                  <a:srgbClr val="FF0000"/>
                </a:solidFill>
                <a:latin typeface="Times New Roman" panose="02020603050405020304" pitchFamily="18" charset="0"/>
                <a:cs typeface="Times New Roman" panose="02020603050405020304" pitchFamily="18" charset="0"/>
              </a:rPr>
              <a:t>,</a:t>
            </a:r>
          </a:p>
          <a:p>
            <a:pPr>
              <a:spcBef>
                <a:spcPct val="0"/>
              </a:spcBef>
              <a:buClrTx/>
              <a:buFontTx/>
              <a:buNone/>
            </a:pPr>
            <a:r>
              <a:rPr lang="en-US" altLang="en-US" sz="2400" b="1" dirty="0" smtClean="0">
                <a:solidFill>
                  <a:srgbClr val="FF0000"/>
                </a:solidFill>
                <a:latin typeface="Times New Roman" panose="02020603050405020304" pitchFamily="18" charset="0"/>
                <a:cs typeface="Times New Roman" panose="02020603050405020304" pitchFamily="18" charset="0"/>
              </a:rPr>
              <a:t>Department </a:t>
            </a:r>
            <a:r>
              <a:rPr lang="en-US" altLang="en-US" sz="2400" b="1" dirty="0">
                <a:solidFill>
                  <a:srgbClr val="FF0000"/>
                </a:solidFill>
                <a:latin typeface="Times New Roman" panose="02020603050405020304" pitchFamily="18" charset="0"/>
                <a:cs typeface="Times New Roman" panose="02020603050405020304" pitchFamily="18" charset="0"/>
              </a:rPr>
              <a:t>of Computer Science and Engineering</a:t>
            </a:r>
            <a:r>
              <a:rPr lang="en-US" altLang="en-US" sz="2400" b="1" dirty="0" smtClean="0">
                <a:solidFill>
                  <a:srgbClr val="FF0000"/>
                </a:solidFill>
                <a:latin typeface="Times New Roman" panose="02020603050405020304" pitchFamily="18" charset="0"/>
                <a:cs typeface="Times New Roman" panose="02020603050405020304" pitchFamily="18" charset="0"/>
              </a:rPr>
              <a:t>,</a:t>
            </a:r>
          </a:p>
          <a:p>
            <a:pPr>
              <a:spcBef>
                <a:spcPct val="0"/>
              </a:spcBef>
              <a:buClrTx/>
              <a:buFontTx/>
              <a:buNone/>
            </a:pPr>
            <a:r>
              <a:rPr lang="en-US" altLang="en-US" sz="2400" b="1" dirty="0" err="1" smtClean="0">
                <a:solidFill>
                  <a:srgbClr val="FF0000"/>
                </a:solidFill>
                <a:latin typeface="Times New Roman" panose="02020603050405020304" pitchFamily="18" charset="0"/>
                <a:cs typeface="Times New Roman" panose="02020603050405020304" pitchFamily="18" charset="0"/>
              </a:rPr>
              <a:t>Rajalakshmi</a:t>
            </a:r>
            <a:r>
              <a:rPr lang="en-US" altLang="en-US" sz="2400" b="1" dirty="0" smtClean="0">
                <a:solidFill>
                  <a:srgbClr val="FF0000"/>
                </a:solidFill>
                <a:latin typeface="Times New Roman" panose="02020603050405020304" pitchFamily="18" charset="0"/>
                <a:cs typeface="Times New Roman" panose="02020603050405020304" pitchFamily="18" charset="0"/>
              </a:rPr>
              <a:t> </a:t>
            </a:r>
            <a:r>
              <a:rPr lang="en-US" altLang="en-US" sz="2400" b="1" dirty="0">
                <a:solidFill>
                  <a:srgbClr val="FF0000"/>
                </a:solidFill>
                <a:latin typeface="Times New Roman" panose="02020603050405020304" pitchFamily="18" charset="0"/>
                <a:cs typeface="Times New Roman" panose="02020603050405020304" pitchFamily="18" charset="0"/>
              </a:rPr>
              <a:t>Engineering College</a:t>
            </a:r>
            <a:r>
              <a:rPr lang="en-US" altLang="en-US" sz="2400" b="1" dirty="0" smtClean="0">
                <a:solidFill>
                  <a:srgbClr val="FF0000"/>
                </a:solidFill>
                <a:latin typeface="Times New Roman" panose="02020603050405020304" pitchFamily="18" charset="0"/>
                <a:cs typeface="Times New Roman" panose="02020603050405020304" pitchFamily="18" charset="0"/>
              </a:rPr>
              <a:t>,</a:t>
            </a:r>
          </a:p>
          <a:p>
            <a:pPr>
              <a:spcBef>
                <a:spcPct val="0"/>
              </a:spcBef>
              <a:buClrTx/>
              <a:buFontTx/>
              <a:buNone/>
            </a:pPr>
            <a:r>
              <a:rPr lang="en-US" altLang="en-US" sz="2400" b="1" dirty="0" err="1" smtClean="0">
                <a:solidFill>
                  <a:srgbClr val="FF0000"/>
                </a:solidFill>
                <a:latin typeface="Times New Roman" panose="02020603050405020304" pitchFamily="18" charset="0"/>
                <a:cs typeface="Times New Roman" panose="02020603050405020304" pitchFamily="18" charset="0"/>
              </a:rPr>
              <a:t>Thandalam</a:t>
            </a:r>
            <a:r>
              <a:rPr lang="en-US" altLang="en-US" sz="2400" b="1" dirty="0">
                <a:solidFill>
                  <a:srgbClr val="FF0000"/>
                </a:solidFill>
                <a:latin typeface="Times New Roman" panose="02020603050405020304" pitchFamily="18" charset="0"/>
                <a:cs typeface="Times New Roman" panose="02020603050405020304" pitchFamily="18" charset="0"/>
              </a:rPr>
              <a:t>.</a:t>
            </a:r>
            <a:endParaRPr lang="en-I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1" name="TextBox 1"/>
          <p:cNvSpPr txBox="1">
            <a:spLocks noChangeArrowheads="1"/>
          </p:cNvSpPr>
          <p:nvPr/>
        </p:nvSpPr>
        <p:spPr bwMode="auto">
          <a:xfrm>
            <a:off x="7755744" y="5183901"/>
            <a:ext cx="435587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2400" b="1" dirty="0" smtClean="0">
                <a:solidFill>
                  <a:srgbClr val="FF0000"/>
                </a:solidFill>
                <a:latin typeface="Times New Roman" panose="02020603050405020304" pitchFamily="18" charset="0"/>
                <a:cs typeface="Times New Roman" panose="02020603050405020304" pitchFamily="18" charset="0"/>
              </a:rPr>
              <a:t>Kamalesh S P – 230701138</a:t>
            </a:r>
          </a:p>
          <a:p>
            <a:pPr>
              <a:spcBef>
                <a:spcPct val="0"/>
              </a:spcBef>
              <a:buClrTx/>
              <a:buFontTx/>
              <a:buNone/>
            </a:pPr>
            <a:r>
              <a:rPr lang="en-IN" altLang="en-US" sz="2400" b="1" dirty="0" err="1" smtClean="0">
                <a:solidFill>
                  <a:srgbClr val="FF0000"/>
                </a:solidFill>
                <a:latin typeface="Times New Roman" panose="02020603050405020304" pitchFamily="18" charset="0"/>
                <a:cs typeface="Times New Roman" panose="02020603050405020304" pitchFamily="18" charset="0"/>
              </a:rPr>
              <a:t>Mathan</a:t>
            </a:r>
            <a:r>
              <a:rPr lang="en-IN" altLang="en-US" sz="2400" b="1" dirty="0" smtClean="0">
                <a:solidFill>
                  <a:srgbClr val="FF0000"/>
                </a:solidFill>
                <a:latin typeface="Times New Roman" panose="02020603050405020304" pitchFamily="18" charset="0"/>
                <a:cs typeface="Times New Roman" panose="02020603050405020304" pitchFamily="18" charset="0"/>
              </a:rPr>
              <a:t> </a:t>
            </a:r>
            <a:r>
              <a:rPr lang="en-IN" altLang="en-US" sz="2400" b="1" dirty="0">
                <a:solidFill>
                  <a:srgbClr val="FF0000"/>
                </a:solidFill>
                <a:latin typeface="Times New Roman" panose="02020603050405020304" pitchFamily="18" charset="0"/>
                <a:cs typeface="Times New Roman" panose="02020603050405020304" pitchFamily="18" charset="0"/>
              </a:rPr>
              <a:t>K</a:t>
            </a:r>
            <a:r>
              <a:rPr lang="en-IN" altLang="en-US" sz="2400" b="1" dirty="0" smtClean="0">
                <a:solidFill>
                  <a:srgbClr val="FF0000"/>
                </a:solidFill>
                <a:latin typeface="Times New Roman" panose="02020603050405020304" pitchFamily="18" charset="0"/>
                <a:cs typeface="Times New Roman" panose="02020603050405020304" pitchFamily="18" charset="0"/>
              </a:rPr>
              <a:t>umar M - 230701181</a:t>
            </a:r>
            <a:endParaRPr lang="en-I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5" name="Title 1"/>
          <p:cNvSpPr txBox="1"/>
          <p:nvPr/>
        </p:nvSpPr>
        <p:spPr>
          <a:xfrm>
            <a:off x="708891" y="1213137"/>
            <a:ext cx="10515600" cy="722457"/>
          </a:xfrm>
          <a:prstGeom prst="rect">
            <a:avLst/>
          </a:prstGeom>
        </p:spPr>
        <p:txBody>
          <a:bodyPr vert="horz" lIns="91440" tIns="45720" rIns="91440" bIns="45720" rtlCol="0" anchor="ctr">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smtClean="0">
                <a:solidFill>
                  <a:srgbClr val="002060"/>
                </a:solidFill>
                <a:latin typeface="Times New Roman" panose="02020603050405020304" pitchFamily="18" charset="0"/>
                <a:ea typeface="+mn-ea"/>
                <a:cs typeface="Times New Roman" panose="02020603050405020304" pitchFamily="18" charset="0"/>
              </a:rPr>
              <a:t>DEPARTMENT OF COMPUTER SCIENCE AND ENGINEERING</a:t>
            </a:r>
            <a:endParaRPr lang="en-IN" sz="2800" b="1" dirty="0">
              <a:solidFill>
                <a:srgbClr val="002060"/>
              </a:solidFill>
              <a:latin typeface="Times New Roman" panose="02020603050405020304" pitchFamily="18" charset="0"/>
              <a:ea typeface="+mn-ea"/>
              <a:cs typeface="Times New Roman" panose="02020603050405020304" pitchFamily="18" charset="0"/>
            </a:endParaRPr>
          </a:p>
        </p:txBody>
      </p:sp>
      <p:pic>
        <p:nvPicPr>
          <p:cNvPr id="8" name="Picture 2" descr="Index of /imag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64077"/>
            <a:ext cx="3756758" cy="1213528"/>
          </a:xfrm>
          <a:prstGeom prst="rect">
            <a:avLst/>
          </a:prstGeom>
          <a:noFill/>
          <a:extLst>
            <a:ext uri="{909E8E84-426E-40DD-AFC4-6F175D3DCCD1}">
              <a14:hiddenFill xmlns:a14="http://schemas.microsoft.com/office/drawing/2010/main">
                <a:solidFill>
                  <a:srgbClr val="FFFFFF"/>
                </a:solidFill>
              </a14:hiddenFill>
            </a:ext>
          </a:extLst>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23346" y="740569"/>
            <a:ext cx="10668000" cy="1216025"/>
          </a:xfrm>
        </p:spPr>
        <p:txBody>
          <a:bodyPr/>
          <a:lstStyle/>
          <a:p>
            <a:pPr algn="ctr"/>
            <a:r>
              <a:rPr lang="en-IN" altLang="en-US" sz="3200" b="1" dirty="0" smtClean="0">
                <a:solidFill>
                  <a:srgbClr val="FF0000"/>
                </a:solidFill>
                <a:latin typeface="Times New Roman" panose="02020603050405020304" pitchFamily="18" charset="0"/>
                <a:cs typeface="Times New Roman" panose="02020603050405020304" pitchFamily="18" charset="0"/>
              </a:rPr>
              <a:t>ABSTRACT</a:t>
            </a:r>
            <a:br>
              <a:rPr lang="en-IN" altLang="en-US" sz="3200" b="1" dirty="0" smtClean="0">
                <a:solidFill>
                  <a:srgbClr val="FF0000"/>
                </a:solidFill>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12800" y="2168467"/>
            <a:ext cx="10668000" cy="3496352"/>
          </a:xfrm>
        </p:spPr>
        <p:txBody>
          <a:bodyPr/>
          <a:lstStyle/>
          <a:p>
            <a:pPr lvl="0">
              <a:buClr>
                <a:srgbClr val="CC0000"/>
              </a:buClr>
              <a:buFont typeface="Arial" panose="020B0604020202020204" pitchFamily="34" charset="0"/>
              <a:buChar char="•"/>
              <a:defRPr/>
            </a:pPr>
            <a:r>
              <a:rPr lang="en-US" altLang="en-US" sz="2400" dirty="0" smtClean="0">
                <a:solidFill>
                  <a:srgbClr val="000000"/>
                </a:solidFill>
                <a:latin typeface="Times New Roman" panose="02020603050405020304" pitchFamily="18" charset="0"/>
                <a:cs typeface="Times New Roman" panose="02020603050405020304" pitchFamily="18" charset="0"/>
              </a:rPr>
              <a:t>The "Nutritionist Generative AI Doctor" an advanced tool designed to simplify nutritional tracking and promote healthier dietary habits. By leveraging the multimodal capabilities of Google's Gemini AI/with </a:t>
            </a:r>
            <a:r>
              <a:rPr lang="en-US" altLang="en-US" sz="2400" dirty="0" err="1" smtClean="0">
                <a:solidFill>
                  <a:srgbClr val="000000"/>
                </a:solidFill>
                <a:latin typeface="Times New Roman" panose="02020603050405020304" pitchFamily="18" charset="0"/>
                <a:cs typeface="Times New Roman" panose="02020603050405020304" pitchFamily="18" charset="0"/>
              </a:rPr>
              <a:t>Clarifai</a:t>
            </a:r>
            <a:r>
              <a:rPr lang="en-US" altLang="en-US" sz="2400" dirty="0" smtClean="0">
                <a:solidFill>
                  <a:srgbClr val="000000"/>
                </a:solidFill>
                <a:latin typeface="Times New Roman" panose="02020603050405020304" pitchFamily="18" charset="0"/>
                <a:cs typeface="Times New Roman" panose="02020603050405020304" pitchFamily="18" charset="0"/>
              </a:rPr>
              <a:t> model, the system analyzes user-uploaded images of meals to provide an instant, detailed breakdown of their nutritional content. The AI identifies food items, estimates total calories, and quantifies macronutrient and micronutrient distributions. The primary goal is to offer an accessible, user-friendly solution for individuals, fitness enthusiasts, and nutritionists to monitor dietary intake, make informed food choices, and achieve health and wellness targets effortlessly.</a:t>
            </a:r>
            <a:endParaRPr lang="en-US" altLang="en-US" sz="2400" dirty="0">
              <a:solidFill>
                <a:srgbClr val="00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dirty="0" smtClean="0"/>
              <a:t>CS23533 – FOAI Review</a:t>
            </a:r>
            <a:endParaRPr lang="en-IN" dirty="0"/>
          </a:p>
        </p:txBody>
      </p:sp>
      <p:sp>
        <p:nvSpPr>
          <p:cNvPr id="5" name="Footer Placeholder 4"/>
          <p:cNvSpPr>
            <a:spLocks noGrp="1"/>
          </p:cNvSpPr>
          <p:nvPr>
            <p:ph type="ftr" sz="quarter" idx="11"/>
          </p:nvPr>
        </p:nvSpPr>
        <p:spPr/>
        <p:txBody>
          <a:bodyPr/>
          <a:lstStyle/>
          <a:p>
            <a:r>
              <a:rPr lang="en-US"/>
              <a:t>Department of Computer Science and Engineering</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pPr/>
              <a:t>2</a:t>
            </a:fld>
            <a:endParaRPr lang="en-IN"/>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3200" b="1" dirty="0" smtClean="0">
                <a:solidFill>
                  <a:srgbClr val="FF0000"/>
                </a:solidFill>
                <a:latin typeface="Times New Roman" panose="02020603050405020304" pitchFamily="18" charset="0"/>
                <a:cs typeface="Times New Roman" panose="02020603050405020304" pitchFamily="18" charset="0"/>
              </a:rPr>
              <a:t>INTRODUCTION</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11200" y="2083033"/>
            <a:ext cx="10668000" cy="3599985"/>
          </a:xfrm>
        </p:spPr>
        <p:txBody>
          <a:bodyPr/>
          <a:lstStyle/>
          <a:p>
            <a:pPr lvl="0">
              <a:buClr>
                <a:srgbClr val="CC0000"/>
              </a:buClr>
              <a:buFont typeface="Arial" panose="020B0604020202020204" pitchFamily="34" charset="0"/>
              <a:buChar char="•"/>
              <a:defRPr/>
            </a:pPr>
            <a:r>
              <a:rPr lang="en-US" altLang="en-US" sz="2400" dirty="0" smtClean="0">
                <a:solidFill>
                  <a:srgbClr val="000000"/>
                </a:solidFill>
                <a:latin typeface="Times New Roman" panose="02020603050405020304" pitchFamily="18" charset="0"/>
                <a:cs typeface="Times New Roman" panose="02020603050405020304" pitchFamily="18" charset="0"/>
              </a:rPr>
              <a:t>In today's fast-paced world, manually tracking dietary intake is often tedious, inaccurate, and time-consuming. While numerous apps exist, they typically require manual data entry, which can be a significant barrier for consistent use.</a:t>
            </a:r>
          </a:p>
          <a:p>
            <a:pPr lvl="0">
              <a:buClr>
                <a:srgbClr val="CC0000"/>
              </a:buClr>
              <a:buFont typeface="Arial" panose="020B0604020202020204" pitchFamily="34" charset="0"/>
              <a:buChar char="•"/>
              <a:defRPr/>
            </a:pPr>
            <a:r>
              <a:rPr lang="en-US" altLang="en-US" sz="2400" dirty="0" smtClean="0">
                <a:solidFill>
                  <a:srgbClr val="000000"/>
                </a:solidFill>
                <a:latin typeface="Times New Roman" panose="02020603050405020304" pitchFamily="18" charset="0"/>
                <a:cs typeface="Times New Roman" panose="02020603050405020304" pitchFamily="18" charset="0"/>
              </a:rPr>
              <a:t>The Nutritionist Generative AI Doctor addresses this challenge by automating the process. Users simply take a picture of their meal, and the AI handles the rest. This innovative approach removes the friction from calorie counting and nutritional analysis, making it accessible to everyone from beginners to health experts. The project aims to bridge the gap between technology and personal health, empowering users to understand and improve their eating habits with ease.</a:t>
            </a:r>
            <a:endParaRPr lang="en-IN"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dirty="0"/>
              <a:t>CS23533 – FOAI Review</a:t>
            </a:r>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pPr/>
              <a:t>3</a:t>
            </a:fld>
            <a:endParaRPr lang="en-IN"/>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200" b="1" dirty="0" smtClean="0">
                <a:solidFill>
                  <a:srgbClr val="FF0000"/>
                </a:solidFill>
                <a:latin typeface="Times New Roman" panose="02020603050405020304" pitchFamily="18" charset="0"/>
                <a:cs typeface="Times New Roman" panose="02020603050405020304" pitchFamily="18" charset="0"/>
              </a:rPr>
              <a:t>OBJECTIVES</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dirty="0"/>
              <a:t>CS23533 – FOAI Review</a:t>
            </a:r>
            <a:endParaRPr lang="en-IN" dirty="0"/>
          </a:p>
        </p:txBody>
      </p:sp>
      <p:sp>
        <p:nvSpPr>
          <p:cNvPr id="5" name="Footer Placeholder 4"/>
          <p:cNvSpPr>
            <a:spLocks noGrp="1"/>
          </p:cNvSpPr>
          <p:nvPr>
            <p:ph type="ftr" sz="quarter" idx="11"/>
          </p:nvPr>
        </p:nvSpPr>
        <p:spPr/>
        <p:txBody>
          <a:bodyPr/>
          <a:lstStyle/>
          <a:p>
            <a:pPr>
              <a:defRPr/>
            </a:pPr>
            <a:r>
              <a:rPr lang="en-US" smtClean="0"/>
              <a:t>Department of Computer Science and Engineering</a:t>
            </a:r>
            <a:endParaRPr lang="en-US"/>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smtClean="0"/>
              <a:pPr>
                <a:defRPr/>
              </a:pPr>
              <a:t>4</a:t>
            </a:fld>
            <a:endParaRPr lang="en-US" altLang="en-US"/>
          </a:p>
        </p:txBody>
      </p:sp>
      <p:sp>
        <p:nvSpPr>
          <p:cNvPr id="7" name="Rectangle 1"/>
          <p:cNvSpPr>
            <a:spLocks noGrp="1" noChangeArrowheads="1"/>
          </p:cNvSpPr>
          <p:nvPr>
            <p:ph idx="1"/>
          </p:nvPr>
        </p:nvSpPr>
        <p:spPr bwMode="auto">
          <a:xfrm>
            <a:off x="357187" y="2236421"/>
            <a:ext cx="11477625"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spcBef>
                <a:spcPct val="0"/>
              </a:spcBef>
              <a:buClrTx/>
              <a:buFont typeface="Arial" pitchFamily="34" charset="0"/>
              <a:buChar char="•"/>
            </a:pPr>
            <a:r>
              <a:rPr lang="en-US" altLang="en-US" sz="2000" dirty="0" smtClean="0">
                <a:latin typeface="Times New Roman" panose="02020603050405020304" pitchFamily="18" charset="0"/>
                <a:cs typeface="Times New Roman" panose="02020603050405020304" pitchFamily="18" charset="0"/>
              </a:rPr>
              <a:t>      </a:t>
            </a:r>
            <a:r>
              <a:rPr lang="en-US" altLang="en-US" sz="2000" b="1" dirty="0" smtClean="0">
                <a:latin typeface="Times New Roman" panose="02020603050405020304" pitchFamily="18" charset="0"/>
                <a:cs typeface="Times New Roman" panose="02020603050405020304" pitchFamily="18" charset="0"/>
              </a:rPr>
              <a:t>To Develop an Automated System</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Create a tool that automatically identifies food </a:t>
            </a:r>
            <a:r>
              <a:rPr lang="en-US" altLang="en-US" sz="2000" dirty="0" smtClean="0">
                <a:latin typeface="Times New Roman" panose="02020603050405020304" pitchFamily="18" charset="0"/>
                <a:cs typeface="Times New Roman" panose="02020603050405020304" pitchFamily="18" charset="0"/>
              </a:rPr>
              <a:t>items from </a:t>
            </a:r>
            <a:r>
              <a:rPr lang="en-US" altLang="en-US" sz="2000" dirty="0">
                <a:latin typeface="Times New Roman" panose="02020603050405020304" pitchFamily="18" charset="0"/>
                <a:cs typeface="Times New Roman" panose="02020603050405020304" pitchFamily="18" charset="0"/>
              </a:rPr>
              <a:t>an image.</a:t>
            </a:r>
            <a:endParaRPr lang="en-US" altLang="en-US" sz="2000" dirty="0" smtClean="0">
              <a:latin typeface="Times New Roman" panose="02020603050405020304" pitchFamily="18" charset="0"/>
              <a:cs typeface="Times New Roman" panose="02020603050405020304" pitchFamily="18" charset="0"/>
            </a:endParaRPr>
          </a:p>
          <a:p>
            <a:pPr>
              <a:spcBef>
                <a:spcPct val="0"/>
              </a:spcBef>
              <a:buClrTx/>
              <a:buFont typeface="Arial" pitchFamily="34" charset="0"/>
              <a:buChar char="•"/>
            </a:pPr>
            <a:r>
              <a:rPr lang="en-US" altLang="en-US" sz="2000" b="1" dirty="0" smtClean="0">
                <a:latin typeface="Times New Roman" panose="02020603050405020304" pitchFamily="18" charset="0"/>
                <a:cs typeface="Times New Roman" panose="02020603050405020304" pitchFamily="18" charset="0"/>
              </a:rPr>
              <a:t>To Provide Detailed Nutritional Analysis: </a:t>
            </a:r>
            <a:r>
              <a:rPr lang="en-US" altLang="en-US" sz="2000" dirty="0" smtClean="0">
                <a:latin typeface="Times New Roman" panose="02020603050405020304" pitchFamily="18" charset="0"/>
                <a:cs typeface="Times New Roman" panose="02020603050405020304" pitchFamily="18" charset="0"/>
              </a:rPr>
              <a:t>Extract and calculate key nutritional data, including total calories, carbohydrates, proteins, and fats.</a:t>
            </a:r>
          </a:p>
          <a:p>
            <a:pPr>
              <a:spcBef>
                <a:spcPct val="0"/>
              </a:spcBef>
              <a:buClrTx/>
              <a:buFont typeface="Arial" pitchFamily="34" charset="0"/>
              <a:buChar char="•"/>
            </a:pPr>
            <a:r>
              <a:rPr lang="en-US" altLang="en-US" sz="2000" b="1" dirty="0" smtClean="0">
                <a:latin typeface="Times New Roman" panose="02020603050405020304" pitchFamily="18" charset="0"/>
                <a:cs typeface="Times New Roman" panose="02020603050405020304" pitchFamily="18" charset="0"/>
              </a:rPr>
              <a:t>To Assess Meal Quality: </a:t>
            </a:r>
            <a:r>
              <a:rPr lang="en-US" altLang="en-US" sz="2000" dirty="0" smtClean="0">
                <a:latin typeface="Times New Roman" panose="02020603050405020304" pitchFamily="18" charset="0"/>
                <a:cs typeface="Times New Roman" panose="02020603050405020304" pitchFamily="18" charset="0"/>
              </a:rPr>
              <a:t>Evaluate the overall healthiness of a meal and provide a simple, understandable assessment.</a:t>
            </a:r>
          </a:p>
          <a:p>
            <a:pPr>
              <a:spcBef>
                <a:spcPct val="0"/>
              </a:spcBef>
              <a:buClrTx/>
              <a:buFont typeface="Arial" pitchFamily="34" charset="0"/>
              <a:buChar char="•"/>
            </a:pPr>
            <a:r>
              <a:rPr lang="en-US" altLang="en-US" sz="2000" b="1" dirty="0" smtClean="0">
                <a:latin typeface="Times New Roman" panose="02020603050405020304" pitchFamily="18" charset="0"/>
                <a:cs typeface="Times New Roman" panose="02020603050405020304" pitchFamily="18" charset="0"/>
              </a:rPr>
              <a:t>To Offer Actionable Recommendations: </a:t>
            </a:r>
            <a:r>
              <a:rPr lang="en-US" altLang="en-US" sz="2000" dirty="0" smtClean="0">
                <a:latin typeface="Times New Roman" panose="02020603050405020304" pitchFamily="18" charset="0"/>
                <a:cs typeface="Times New Roman" panose="02020603050405020304" pitchFamily="18" charset="0"/>
              </a:rPr>
              <a:t>Generate personalized diet suggestions for improvement based on the meal analysis.</a:t>
            </a:r>
          </a:p>
          <a:p>
            <a:pPr>
              <a:spcBef>
                <a:spcPct val="0"/>
              </a:spcBef>
              <a:buClrTx/>
              <a:buFont typeface="Arial" pitchFamily="34" charset="0"/>
              <a:buChar char="•"/>
            </a:pPr>
            <a:r>
              <a:rPr lang="en-US" altLang="en-US" sz="2000" b="1" dirty="0" smtClean="0">
                <a:latin typeface="Times New Roman" panose="02020603050405020304" pitchFamily="18" charset="0"/>
                <a:cs typeface="Times New Roman" panose="02020603050405020304" pitchFamily="18" charset="0"/>
              </a:rPr>
              <a:t>To Ensure User-Friendliness: </a:t>
            </a:r>
            <a:r>
              <a:rPr lang="en-US" altLang="en-US" sz="2000" dirty="0" smtClean="0">
                <a:latin typeface="Times New Roman" panose="02020603050405020304" pitchFamily="18" charset="0"/>
                <a:cs typeface="Times New Roman" panose="02020603050405020304" pitchFamily="18" charset="0"/>
              </a:rPr>
              <a:t>Design a seamless and intuitive user experience that requires minimal effort from the user.</a:t>
            </a:r>
          </a:p>
          <a:p>
            <a:pPr>
              <a:spcBef>
                <a:spcPct val="0"/>
              </a:spcBef>
              <a:buClrTx/>
              <a:buFont typeface="Arial" pitchFamily="34" charset="0"/>
              <a:buChar char="•"/>
            </a:pPr>
            <a:endParaRPr lang="en-US" altLang="en-US" sz="28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200" b="1" dirty="0" smtClean="0">
                <a:solidFill>
                  <a:srgbClr val="FF0000"/>
                </a:solidFill>
                <a:latin typeface="Times New Roman" panose="02020603050405020304" pitchFamily="18" charset="0"/>
                <a:cs typeface="Times New Roman" panose="02020603050405020304" pitchFamily="18" charset="0"/>
              </a:rPr>
              <a:t>LITERATURE REVIEW</a:t>
            </a:r>
            <a:endParaRPr lang="en-IN" sz="3200"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132149910"/>
              </p:ext>
            </p:extLst>
          </p:nvPr>
        </p:nvGraphicFramePr>
        <p:xfrm>
          <a:off x="669824" y="1721364"/>
          <a:ext cx="10852352" cy="4323323"/>
        </p:xfrm>
        <a:graphic>
          <a:graphicData uri="http://schemas.openxmlformats.org/drawingml/2006/table">
            <a:tbl>
              <a:tblPr firstRow="1" bandRow="1">
                <a:tableStyleId>{5C22544A-7EE6-4342-B048-85BDC9FD1C3A}</a:tableStyleId>
              </a:tblPr>
              <a:tblGrid>
                <a:gridCol w="703580"/>
                <a:gridCol w="1971993"/>
                <a:gridCol w="2887980"/>
                <a:gridCol w="1762933"/>
                <a:gridCol w="1762933"/>
                <a:gridCol w="1762933"/>
              </a:tblGrid>
              <a:tr h="827521">
                <a:tc>
                  <a:txBody>
                    <a:bodyPr/>
                    <a:lstStyle/>
                    <a:p>
                      <a:r>
                        <a:rPr lang="en-US" sz="1800" b="1" i="0" dirty="0" err="1" smtClean="0">
                          <a:solidFill>
                            <a:schemeClr val="tx1"/>
                          </a:solidFill>
                          <a:latin typeface="Times New Roman" pitchFamily="18" charset="0"/>
                          <a:cs typeface="Times New Roman" pitchFamily="18" charset="0"/>
                        </a:rPr>
                        <a:t>S.No</a:t>
                      </a:r>
                      <a:endParaRPr lang="en-US" sz="1800" b="1" i="0"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Author(s) &amp; Year</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Title of Paper</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Methodology / Approach</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Key Findings / Contribution</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Relevance to Current Project</a:t>
                      </a:r>
                      <a:endParaRPr lang="en-US" dirty="0">
                        <a:solidFill>
                          <a:schemeClr val="tx1"/>
                        </a:solidFill>
                        <a:latin typeface="Times New Roman" pitchFamily="18" charset="0"/>
                        <a:cs typeface="Times New Roman" pitchFamily="18" charset="0"/>
                      </a:endParaRPr>
                    </a:p>
                  </a:txBody>
                  <a:tcPr/>
                </a:tc>
              </a:tr>
              <a:tr h="1737028">
                <a:tc>
                  <a:txBody>
                    <a:bodyPr/>
                    <a:lstStyle/>
                    <a:p>
                      <a:r>
                        <a:rPr lang="en-US" sz="1400" dirty="0" smtClean="0">
                          <a:latin typeface="Times New Roman" pitchFamily="18" charset="0"/>
                          <a:cs typeface="Times New Roman" pitchFamily="18" charset="0"/>
                        </a:rPr>
                        <a:t>1</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Zhou et al., 2021</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Food Recognition Using Deep CNNs</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Developed a deep </a:t>
                      </a:r>
                      <a:r>
                        <a:rPr lang="en-US" sz="1400" dirty="0" err="1" smtClean="0">
                          <a:latin typeface="Times New Roman" pitchFamily="18" charset="0"/>
                          <a:cs typeface="Times New Roman" pitchFamily="18" charset="0"/>
                        </a:rPr>
                        <a:t>convolutional</a:t>
                      </a:r>
                      <a:r>
                        <a:rPr lang="en-US" sz="1400" dirty="0" smtClean="0">
                          <a:latin typeface="Times New Roman" pitchFamily="18" charset="0"/>
                          <a:cs typeface="Times New Roman" pitchFamily="18" charset="0"/>
                        </a:rPr>
                        <a:t> neural network (CNN) model trained on large-scale food image datasets to identify meal categories.</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Achieved high accuracy in recognizing multiple food items within a single image by using feature extraction and image segmentation layers.</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Provides the foundation for food detection in your project’s image analysis pipeline before calorie estimation.</a:t>
                      </a:r>
                      <a:endParaRPr lang="en-US" sz="1400" dirty="0">
                        <a:latin typeface="Times New Roman" pitchFamily="18" charset="0"/>
                        <a:cs typeface="Times New Roman" pitchFamily="18" charset="0"/>
                      </a:endParaRPr>
                    </a:p>
                  </a:txBody>
                  <a:tcPr/>
                </a:tc>
              </a:tr>
              <a:tr h="1697482">
                <a:tc>
                  <a:txBody>
                    <a:bodyPr/>
                    <a:lstStyle/>
                    <a:p>
                      <a:r>
                        <a:rPr lang="en-US" sz="1400" dirty="0" smtClean="0">
                          <a:latin typeface="Times New Roman" pitchFamily="18" charset="0"/>
                          <a:cs typeface="Times New Roman" pitchFamily="18" charset="0"/>
                        </a:rPr>
                        <a:t>2</a:t>
                      </a:r>
                      <a:endParaRPr lang="en-US" sz="1400" dirty="0">
                        <a:latin typeface="Times New Roman" pitchFamily="18" charset="0"/>
                        <a:cs typeface="Times New Roman" pitchFamily="18" charset="0"/>
                      </a:endParaRPr>
                    </a:p>
                  </a:txBody>
                  <a:tcPr/>
                </a:tc>
                <a:tc>
                  <a:txBody>
                    <a:bodyPr/>
                    <a:lstStyle/>
                    <a:p>
                      <a:r>
                        <a:rPr lang="en-US" sz="1400" dirty="0" err="1" smtClean="0">
                          <a:latin typeface="Times New Roman" pitchFamily="18" charset="0"/>
                          <a:cs typeface="Times New Roman" pitchFamily="18" charset="0"/>
                        </a:rPr>
                        <a:t>Mekhmoukh</a:t>
                      </a:r>
                      <a:r>
                        <a:rPr lang="en-US" sz="1400" dirty="0" smtClean="0">
                          <a:latin typeface="Times New Roman" pitchFamily="18" charset="0"/>
                          <a:cs typeface="Times New Roman" pitchFamily="18" charset="0"/>
                        </a:rPr>
                        <a:t> et al., 2022</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AI in Personalized Nutrition</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Used machine learning algorithms to tailor diet recommendations based on user profiles, age, weight, and activity level.</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AI models significantly improve personalization in dietary planning and health outcomes.</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Supports your system’s personalized nutrition suggestions after Gemini analysis.</a:t>
                      </a:r>
                      <a:endParaRPr lang="en-US" sz="1400" dirty="0">
                        <a:latin typeface="Times New Roman" pitchFamily="18" charset="0"/>
                        <a:cs typeface="Times New Roman" pitchFamily="18" charset="0"/>
                      </a:endParaRPr>
                    </a:p>
                  </a:txBody>
                  <a:tcPr/>
                </a:tc>
              </a:tr>
            </a:tbl>
          </a:graphicData>
        </a:graphic>
      </p:graphicFrame>
      <p:sp>
        <p:nvSpPr>
          <p:cNvPr id="4" name="Date Placeholder 3"/>
          <p:cNvSpPr>
            <a:spLocks noGrp="1"/>
          </p:cNvSpPr>
          <p:nvPr>
            <p:ph type="dt" sz="half" idx="10"/>
          </p:nvPr>
        </p:nvSpPr>
        <p:spPr/>
        <p:txBody>
          <a:bodyPr/>
          <a:lstStyle/>
          <a:p>
            <a:r>
              <a:rPr lang="en-US" dirty="0"/>
              <a:t>CS23533 – FOAI Review</a:t>
            </a:r>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pPr/>
              <a:t>5</a:t>
            </a:fld>
            <a:endParaRPr lang="en-IN"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200" b="1" dirty="0" smtClean="0">
                <a:solidFill>
                  <a:srgbClr val="FF0000"/>
                </a:solidFill>
                <a:latin typeface="Times New Roman" panose="02020603050405020304" pitchFamily="18" charset="0"/>
                <a:cs typeface="Times New Roman" panose="02020603050405020304" pitchFamily="18" charset="0"/>
              </a:rPr>
              <a:t>LITERATURE REVIEW</a:t>
            </a:r>
            <a:endParaRPr lang="en-IN" sz="3200"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542210166"/>
              </p:ext>
            </p:extLst>
          </p:nvPr>
        </p:nvGraphicFramePr>
        <p:xfrm>
          <a:off x="579185" y="1751874"/>
          <a:ext cx="11033630" cy="3975731"/>
        </p:xfrm>
        <a:graphic>
          <a:graphicData uri="http://schemas.openxmlformats.org/drawingml/2006/table">
            <a:tbl>
              <a:tblPr firstRow="1" bandRow="1">
                <a:tableStyleId>{5C22544A-7EE6-4342-B048-85BDC9FD1C3A}</a:tableStyleId>
              </a:tblPr>
              <a:tblGrid>
                <a:gridCol w="703580"/>
                <a:gridCol w="1762933"/>
                <a:gridCol w="3255074"/>
                <a:gridCol w="1762933"/>
                <a:gridCol w="1762933"/>
                <a:gridCol w="1786177"/>
              </a:tblGrid>
              <a:tr h="827521">
                <a:tc>
                  <a:txBody>
                    <a:bodyPr/>
                    <a:lstStyle/>
                    <a:p>
                      <a:r>
                        <a:rPr lang="en-US" sz="1800" b="1" i="0" dirty="0" err="1" smtClean="0">
                          <a:solidFill>
                            <a:schemeClr val="tx1"/>
                          </a:solidFill>
                          <a:latin typeface="Times New Roman" pitchFamily="18" charset="0"/>
                          <a:cs typeface="Times New Roman" pitchFamily="18" charset="0"/>
                        </a:rPr>
                        <a:t>S.No</a:t>
                      </a:r>
                      <a:endParaRPr lang="en-US" sz="1800" b="1" i="0"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Author(s) &amp; Year</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Title of Paper</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Methodology / Approach</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Key Findings / Contribution</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Relevance to Current Project</a:t>
                      </a:r>
                      <a:endParaRPr lang="en-US" dirty="0">
                        <a:solidFill>
                          <a:schemeClr val="tx1"/>
                        </a:solidFill>
                        <a:latin typeface="Times New Roman" pitchFamily="18" charset="0"/>
                        <a:cs typeface="Times New Roman" pitchFamily="18" charset="0"/>
                      </a:endParaRPr>
                    </a:p>
                  </a:txBody>
                  <a:tcPr/>
                </a:tc>
              </a:tr>
              <a:tr h="1450728">
                <a:tc>
                  <a:txBody>
                    <a:bodyPr/>
                    <a:lstStyle/>
                    <a:p>
                      <a:r>
                        <a:rPr lang="en-US" sz="1400" dirty="0" smtClean="0">
                          <a:latin typeface="Times New Roman" pitchFamily="18" charset="0"/>
                          <a:cs typeface="Times New Roman" pitchFamily="18" charset="0"/>
                        </a:rPr>
                        <a:t>3</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Singh et al., 2023</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Nutrient Estimation with Computer Vision</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Combined object detection with nutritional databases to map food images to their macro and micronutrient values.</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Improved precision in estimating calorie content by linking vision outputs to nutrient datasets.</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Aligns with your nutrient breakdown and calorie estimation step using Gemini outputs.</a:t>
                      </a:r>
                      <a:endParaRPr lang="en-US" sz="1400" dirty="0">
                        <a:latin typeface="Times New Roman" pitchFamily="18" charset="0"/>
                        <a:cs typeface="Times New Roman" pitchFamily="18" charset="0"/>
                      </a:endParaRPr>
                    </a:p>
                  </a:txBody>
                  <a:tcPr/>
                </a:tc>
              </a:tr>
              <a:tr h="1697482">
                <a:tc>
                  <a:txBody>
                    <a:bodyPr/>
                    <a:lstStyle/>
                    <a:p>
                      <a:r>
                        <a:rPr lang="en-US" sz="1400" dirty="0" smtClean="0">
                          <a:latin typeface="Times New Roman" pitchFamily="18" charset="0"/>
                          <a:cs typeface="Times New Roman" pitchFamily="18" charset="0"/>
                        </a:rPr>
                        <a:t>4</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Lee et al., 2023 </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Deep-Learning Calorie Estimator</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Developed a CNN model trained with annotated images to estimate calorie content based on portion size and type of meal.</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Enhanced calorie estimation by integrating depth data and image segmentation.</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Inspires the calorie computation mechanism in your project’s analytical workflow.</a:t>
                      </a:r>
                      <a:endParaRPr lang="en-US" sz="1400" dirty="0">
                        <a:latin typeface="Times New Roman" pitchFamily="18" charset="0"/>
                        <a:cs typeface="Times New Roman" pitchFamily="18" charset="0"/>
                      </a:endParaRPr>
                    </a:p>
                  </a:txBody>
                  <a:tcPr/>
                </a:tc>
              </a:tr>
            </a:tbl>
          </a:graphicData>
        </a:graphic>
      </p:graphicFrame>
      <p:sp>
        <p:nvSpPr>
          <p:cNvPr id="4" name="Date Placeholder 3"/>
          <p:cNvSpPr>
            <a:spLocks noGrp="1"/>
          </p:cNvSpPr>
          <p:nvPr>
            <p:ph type="dt" sz="half" idx="10"/>
          </p:nvPr>
        </p:nvSpPr>
        <p:spPr/>
        <p:txBody>
          <a:bodyPr/>
          <a:lstStyle/>
          <a:p>
            <a:r>
              <a:rPr lang="en-US" dirty="0"/>
              <a:t>CS23533 – FOAI Review</a:t>
            </a:r>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pPr/>
              <a:t>6</a:t>
            </a:fld>
            <a:endParaRPr lang="en-IN"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200" b="1" dirty="0" smtClean="0">
                <a:solidFill>
                  <a:srgbClr val="FF0000"/>
                </a:solidFill>
                <a:latin typeface="Times New Roman" panose="02020603050405020304" pitchFamily="18" charset="0"/>
                <a:cs typeface="Times New Roman" panose="02020603050405020304" pitchFamily="18" charset="0"/>
              </a:rPr>
              <a:t>LITERATURE REVIEW</a:t>
            </a:r>
            <a:endParaRPr lang="en-IN" sz="3200"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113504883"/>
              </p:ext>
            </p:extLst>
          </p:nvPr>
        </p:nvGraphicFramePr>
        <p:xfrm>
          <a:off x="369541" y="1752010"/>
          <a:ext cx="11452917" cy="4262031"/>
        </p:xfrm>
        <a:graphic>
          <a:graphicData uri="http://schemas.openxmlformats.org/drawingml/2006/table">
            <a:tbl>
              <a:tblPr firstRow="1" bandRow="1">
                <a:tableStyleId>{5C22544A-7EE6-4342-B048-85BDC9FD1C3A}</a:tableStyleId>
              </a:tblPr>
              <a:tblGrid>
                <a:gridCol w="703580"/>
                <a:gridCol w="1762933"/>
                <a:gridCol w="3697605"/>
                <a:gridCol w="1762933"/>
                <a:gridCol w="1762933"/>
                <a:gridCol w="1762933"/>
              </a:tblGrid>
              <a:tr h="827521">
                <a:tc>
                  <a:txBody>
                    <a:bodyPr/>
                    <a:lstStyle/>
                    <a:p>
                      <a:r>
                        <a:rPr lang="en-US" sz="1800" b="1" i="0" dirty="0" err="1" smtClean="0">
                          <a:solidFill>
                            <a:schemeClr val="tx1"/>
                          </a:solidFill>
                          <a:latin typeface="Times New Roman" pitchFamily="18" charset="0"/>
                          <a:cs typeface="Times New Roman" pitchFamily="18" charset="0"/>
                        </a:rPr>
                        <a:t>S.No</a:t>
                      </a:r>
                      <a:endParaRPr lang="en-US" sz="1800" b="1" i="0"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Author(s) &amp; Year</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Title of Paper</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Methodology / Approach</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Key Findings / Contribution</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Relevance to Current Project</a:t>
                      </a:r>
                      <a:endParaRPr lang="en-US" dirty="0">
                        <a:solidFill>
                          <a:schemeClr val="tx1"/>
                        </a:solidFill>
                        <a:latin typeface="Times New Roman" pitchFamily="18" charset="0"/>
                        <a:cs typeface="Times New Roman" pitchFamily="18" charset="0"/>
                      </a:endParaRPr>
                    </a:p>
                  </a:txBody>
                  <a:tcPr/>
                </a:tc>
              </a:tr>
              <a:tr h="1737028">
                <a:tc>
                  <a:txBody>
                    <a:bodyPr/>
                    <a:lstStyle/>
                    <a:p>
                      <a:r>
                        <a:rPr lang="en-US" sz="1400" dirty="0" smtClean="0">
                          <a:latin typeface="Times New Roman" pitchFamily="18" charset="0"/>
                          <a:cs typeface="Times New Roman" pitchFamily="18" charset="0"/>
                        </a:rPr>
                        <a:t>5</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Chen et al., 2024</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Multimodal AI for Food Analysis</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Integrated text, image, and sensor data in a multimodal AI framework for comprehensive food recognition.</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Multimodal systems outperform image-only models by combining visual and contextual information.</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Demonstrates the potential of Google Gemini’s multimodal capability, the core engine of your project.</a:t>
                      </a:r>
                      <a:endParaRPr lang="en-US" sz="1400" dirty="0">
                        <a:latin typeface="Times New Roman" pitchFamily="18" charset="0"/>
                        <a:cs typeface="Times New Roman" pitchFamily="18" charset="0"/>
                      </a:endParaRPr>
                    </a:p>
                  </a:txBody>
                  <a:tcPr/>
                </a:tc>
              </a:tr>
              <a:tr h="1697482">
                <a:tc>
                  <a:txBody>
                    <a:bodyPr/>
                    <a:lstStyle/>
                    <a:p>
                      <a:r>
                        <a:rPr lang="en-US" sz="1400" dirty="0" smtClean="0">
                          <a:latin typeface="Times New Roman" pitchFamily="18" charset="0"/>
                          <a:cs typeface="Times New Roman" pitchFamily="18" charset="0"/>
                        </a:rPr>
                        <a:t>6</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Ahmad et al., 2020</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Food Image Segmentation for Calorie Prediction</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Used semantic segmentation to isolate food items and calculate caloric content through volume estimation.</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Reduced calorie prediction error by segmenting mixed meals accurately.</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Guides your project’s preprocessing and segmentation stage before analysis with Gemini.</a:t>
                      </a:r>
                      <a:endParaRPr lang="en-US" sz="1400" dirty="0">
                        <a:latin typeface="Times New Roman" pitchFamily="18" charset="0"/>
                        <a:cs typeface="Times New Roman" pitchFamily="18" charset="0"/>
                      </a:endParaRPr>
                    </a:p>
                  </a:txBody>
                  <a:tcPr/>
                </a:tc>
              </a:tr>
            </a:tbl>
          </a:graphicData>
        </a:graphic>
      </p:graphicFrame>
      <p:sp>
        <p:nvSpPr>
          <p:cNvPr id="4" name="Date Placeholder 3"/>
          <p:cNvSpPr>
            <a:spLocks noGrp="1"/>
          </p:cNvSpPr>
          <p:nvPr>
            <p:ph type="dt" sz="half" idx="10"/>
          </p:nvPr>
        </p:nvSpPr>
        <p:spPr/>
        <p:txBody>
          <a:bodyPr/>
          <a:lstStyle/>
          <a:p>
            <a:r>
              <a:rPr lang="en-US" dirty="0"/>
              <a:t>CS23533 – FOAI Review</a:t>
            </a:r>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pPr/>
              <a:t>7</a:t>
            </a:fld>
            <a:endParaRPr lang="en-IN"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200" b="1" dirty="0" smtClean="0">
                <a:solidFill>
                  <a:srgbClr val="FF0000"/>
                </a:solidFill>
                <a:latin typeface="Times New Roman" panose="02020603050405020304" pitchFamily="18" charset="0"/>
                <a:cs typeface="Times New Roman" panose="02020603050405020304" pitchFamily="18" charset="0"/>
              </a:rPr>
              <a:t>LITERATURE REVIEW</a:t>
            </a:r>
            <a:endParaRPr lang="en-IN" sz="3200"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241908803"/>
              </p:ext>
            </p:extLst>
          </p:nvPr>
        </p:nvGraphicFramePr>
        <p:xfrm>
          <a:off x="455393" y="1752010"/>
          <a:ext cx="11281213" cy="4262031"/>
        </p:xfrm>
        <a:graphic>
          <a:graphicData uri="http://schemas.openxmlformats.org/drawingml/2006/table">
            <a:tbl>
              <a:tblPr firstRow="1" bandRow="1">
                <a:tableStyleId>{5C22544A-7EE6-4342-B048-85BDC9FD1C3A}</a:tableStyleId>
              </a:tblPr>
              <a:tblGrid>
                <a:gridCol w="703580"/>
                <a:gridCol w="1762933"/>
                <a:gridCol w="3525901"/>
                <a:gridCol w="1762933"/>
                <a:gridCol w="1762933"/>
                <a:gridCol w="1762933"/>
              </a:tblGrid>
              <a:tr h="827521">
                <a:tc>
                  <a:txBody>
                    <a:bodyPr/>
                    <a:lstStyle/>
                    <a:p>
                      <a:r>
                        <a:rPr lang="en-US" sz="1800" b="1" i="0" dirty="0" err="1" smtClean="0">
                          <a:solidFill>
                            <a:schemeClr val="tx1"/>
                          </a:solidFill>
                          <a:latin typeface="Times New Roman" pitchFamily="18" charset="0"/>
                          <a:cs typeface="Times New Roman" pitchFamily="18" charset="0"/>
                        </a:rPr>
                        <a:t>S.No</a:t>
                      </a:r>
                      <a:endParaRPr lang="en-US" sz="1800" b="1" i="0"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Author(s) &amp; Year</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Title of Paper</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Methodology / Approach</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Key Findings / Contribution</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Relevance to Current Project</a:t>
                      </a:r>
                      <a:endParaRPr lang="en-US" dirty="0">
                        <a:solidFill>
                          <a:schemeClr val="tx1"/>
                        </a:solidFill>
                        <a:latin typeface="Times New Roman" pitchFamily="18" charset="0"/>
                        <a:cs typeface="Times New Roman" pitchFamily="18" charset="0"/>
                      </a:endParaRPr>
                    </a:p>
                  </a:txBody>
                  <a:tcPr/>
                </a:tc>
              </a:tr>
              <a:tr h="1737028">
                <a:tc>
                  <a:txBody>
                    <a:bodyPr/>
                    <a:lstStyle/>
                    <a:p>
                      <a:r>
                        <a:rPr lang="en-US" sz="1400" dirty="0" smtClean="0">
                          <a:latin typeface="Times New Roman" pitchFamily="18" charset="0"/>
                          <a:cs typeface="Times New Roman" pitchFamily="18" charset="0"/>
                        </a:rPr>
                        <a:t>7</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Kim et al., 2021</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AI-Based Meal Classification for Health Apps</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Built a lightweight CNN for real-time meal classification in mobile health applications.</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Achieved fast classification suitable for mobile platforms without loss of accuracy.</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Supports deploying your Gemini-based model in a mobile-friendly environment (future app version).</a:t>
                      </a:r>
                      <a:endParaRPr lang="en-US" sz="1400" dirty="0">
                        <a:latin typeface="Times New Roman" pitchFamily="18" charset="0"/>
                        <a:cs typeface="Times New Roman" pitchFamily="18" charset="0"/>
                      </a:endParaRPr>
                    </a:p>
                  </a:txBody>
                  <a:tcPr/>
                </a:tc>
              </a:tr>
              <a:tr h="1697482">
                <a:tc>
                  <a:txBody>
                    <a:bodyPr/>
                    <a:lstStyle/>
                    <a:p>
                      <a:r>
                        <a:rPr lang="en-US" sz="1400" dirty="0" smtClean="0">
                          <a:latin typeface="Times New Roman" pitchFamily="18" charset="0"/>
                          <a:cs typeface="Times New Roman" pitchFamily="18" charset="0"/>
                        </a:rPr>
                        <a:t>8</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Patel et al., 2022 </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Automated Dietary Assessment Tools</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Reviewed  AI-driven dietary assessment systems combining image recognition and nutrition databases.</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Highlighted automation as a critical advancement in reducing manual diet tracking errors.</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Validates your project’s automation goal of AI-based food recognition and nutrient reporting.</a:t>
                      </a:r>
                      <a:endParaRPr lang="en-US" sz="1400" dirty="0">
                        <a:latin typeface="Times New Roman" pitchFamily="18" charset="0"/>
                        <a:cs typeface="Times New Roman" pitchFamily="18" charset="0"/>
                      </a:endParaRPr>
                    </a:p>
                  </a:txBody>
                  <a:tcPr/>
                </a:tc>
              </a:tr>
            </a:tbl>
          </a:graphicData>
        </a:graphic>
      </p:graphicFrame>
      <p:sp>
        <p:nvSpPr>
          <p:cNvPr id="4" name="Date Placeholder 3"/>
          <p:cNvSpPr>
            <a:spLocks noGrp="1"/>
          </p:cNvSpPr>
          <p:nvPr>
            <p:ph type="dt" sz="half" idx="10"/>
          </p:nvPr>
        </p:nvSpPr>
        <p:spPr/>
        <p:txBody>
          <a:bodyPr/>
          <a:lstStyle/>
          <a:p>
            <a:r>
              <a:rPr lang="en-US" dirty="0"/>
              <a:t>CS23533 – FOAI Review</a:t>
            </a:r>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pPr/>
              <a:t>8</a:t>
            </a:fld>
            <a:endParaRPr lang="en-IN"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200" b="1" dirty="0" smtClean="0">
                <a:solidFill>
                  <a:srgbClr val="FF0000"/>
                </a:solidFill>
                <a:latin typeface="Times New Roman" panose="02020603050405020304" pitchFamily="18" charset="0"/>
                <a:cs typeface="Times New Roman" panose="02020603050405020304" pitchFamily="18" charset="0"/>
              </a:rPr>
              <a:t>LITERATURE REVIEW</a:t>
            </a:r>
            <a:endParaRPr lang="en-IN" sz="3200"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548110733"/>
              </p:ext>
            </p:extLst>
          </p:nvPr>
        </p:nvGraphicFramePr>
        <p:xfrm>
          <a:off x="366176" y="1752010"/>
          <a:ext cx="11459648" cy="4262031"/>
        </p:xfrm>
        <a:graphic>
          <a:graphicData uri="http://schemas.openxmlformats.org/drawingml/2006/table">
            <a:tbl>
              <a:tblPr firstRow="1" bandRow="1">
                <a:tableStyleId>{5C22544A-7EE6-4342-B048-85BDC9FD1C3A}</a:tableStyleId>
              </a:tblPr>
              <a:tblGrid>
                <a:gridCol w="703580"/>
                <a:gridCol w="1762933"/>
                <a:gridCol w="3704336"/>
                <a:gridCol w="1762933"/>
                <a:gridCol w="1762933"/>
                <a:gridCol w="1762933"/>
              </a:tblGrid>
              <a:tr h="827521">
                <a:tc>
                  <a:txBody>
                    <a:bodyPr/>
                    <a:lstStyle/>
                    <a:p>
                      <a:r>
                        <a:rPr lang="en-US" sz="1800" b="1" i="0" dirty="0" err="1" smtClean="0">
                          <a:solidFill>
                            <a:schemeClr val="tx1"/>
                          </a:solidFill>
                          <a:latin typeface="Times New Roman" pitchFamily="18" charset="0"/>
                          <a:cs typeface="Times New Roman" pitchFamily="18" charset="0"/>
                        </a:rPr>
                        <a:t>S.No</a:t>
                      </a:r>
                      <a:endParaRPr lang="en-US" sz="1800" b="1" i="0"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Author(s) &amp; Year</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Title of Paper</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Methodology / Approach</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Key Findings / Contribution</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Relevance to Current Project</a:t>
                      </a:r>
                      <a:endParaRPr lang="en-US" dirty="0">
                        <a:solidFill>
                          <a:schemeClr val="tx1"/>
                        </a:solidFill>
                        <a:latin typeface="Times New Roman" pitchFamily="18" charset="0"/>
                        <a:cs typeface="Times New Roman" pitchFamily="18" charset="0"/>
                      </a:endParaRPr>
                    </a:p>
                  </a:txBody>
                  <a:tcPr/>
                </a:tc>
              </a:tr>
              <a:tr h="1737028">
                <a:tc>
                  <a:txBody>
                    <a:bodyPr/>
                    <a:lstStyle/>
                    <a:p>
                      <a:r>
                        <a:rPr lang="en-US" sz="1400" dirty="0" smtClean="0">
                          <a:latin typeface="Times New Roman" pitchFamily="18" charset="0"/>
                          <a:cs typeface="Times New Roman" pitchFamily="18" charset="0"/>
                        </a:rPr>
                        <a:t>9</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Gupta et al., 2022</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Food Portion Estimation Using Computer Vision</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Developed a vision-based algorithm to estimate portion sizes using geometric features from food images.</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Accurate portion detection directly impacts calorie estimation precision.</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Enhances your Gemini system’s portion-awareness for better calorie output accuracy.</a:t>
                      </a:r>
                      <a:endParaRPr lang="en-US" sz="1400" dirty="0">
                        <a:latin typeface="Times New Roman" pitchFamily="18" charset="0"/>
                        <a:cs typeface="Times New Roman" pitchFamily="18" charset="0"/>
                      </a:endParaRPr>
                    </a:p>
                  </a:txBody>
                  <a:tcPr/>
                </a:tc>
              </a:tr>
              <a:tr h="1697482">
                <a:tc>
                  <a:txBody>
                    <a:bodyPr/>
                    <a:lstStyle/>
                    <a:p>
                      <a:r>
                        <a:rPr lang="en-US" sz="1400" dirty="0" smtClean="0">
                          <a:latin typeface="Times New Roman" pitchFamily="18" charset="0"/>
                          <a:cs typeface="Times New Roman" pitchFamily="18" charset="0"/>
                        </a:rPr>
                        <a:t>10</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Sharma et al., 2023</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Smart Health Monitoring with AI</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Integrated wearable sensors with AI algorithms for continuous health and dietary monitoring.</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Demonstrated how AI improves lifestyle tracking through real-time health data.</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Relates to your project’s future scope of integrating wearable data with nutrition insights.</a:t>
                      </a:r>
                      <a:endParaRPr lang="en-US" sz="1400" dirty="0">
                        <a:latin typeface="Times New Roman" pitchFamily="18" charset="0"/>
                        <a:cs typeface="Times New Roman" pitchFamily="18" charset="0"/>
                      </a:endParaRPr>
                    </a:p>
                  </a:txBody>
                  <a:tcPr/>
                </a:tc>
              </a:tr>
            </a:tbl>
          </a:graphicData>
        </a:graphic>
      </p:graphicFrame>
      <p:sp>
        <p:nvSpPr>
          <p:cNvPr id="4" name="Date Placeholder 3"/>
          <p:cNvSpPr>
            <a:spLocks noGrp="1"/>
          </p:cNvSpPr>
          <p:nvPr>
            <p:ph type="dt" sz="half" idx="10"/>
          </p:nvPr>
        </p:nvSpPr>
        <p:spPr/>
        <p:txBody>
          <a:bodyPr/>
          <a:lstStyle/>
          <a:p>
            <a:r>
              <a:rPr lang="en-US" dirty="0"/>
              <a:t>CS23533 – FOAI Review</a:t>
            </a:r>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pPr/>
              <a:t>9</a:t>
            </a:fld>
            <a:endParaRPr lang="en-IN"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200" b="1" dirty="0" smtClean="0">
                <a:solidFill>
                  <a:srgbClr val="FF0000"/>
                </a:solidFill>
                <a:latin typeface="Times New Roman" panose="02020603050405020304" pitchFamily="18" charset="0"/>
                <a:cs typeface="Times New Roman" panose="02020603050405020304" pitchFamily="18" charset="0"/>
              </a:rPr>
              <a:t>LITERATURE REVIEW</a:t>
            </a:r>
            <a:endParaRPr lang="en-IN" sz="3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dirty="0"/>
              <a:t>CS23533 – FOAI Review</a:t>
            </a:r>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pPr/>
              <a:t>10</a:t>
            </a:fld>
            <a:endParaRPr lang="en-IN" dirty="0"/>
          </a:p>
        </p:txBody>
      </p:sp>
      <p:graphicFrame>
        <p:nvGraphicFramePr>
          <p:cNvPr id="8" name="Content Placeholder 6"/>
          <p:cNvGraphicFramePr>
            <a:graphicFrameLocks noGrp="1"/>
          </p:cNvGraphicFramePr>
          <p:nvPr>
            <p:ph idx="1"/>
            <p:extLst>
              <p:ext uri="{D42A27DB-BD31-4B8C-83A1-F6EECF244321}">
                <p14:modId xmlns:p14="http://schemas.microsoft.com/office/powerpoint/2010/main" val="2809451815"/>
              </p:ext>
            </p:extLst>
          </p:nvPr>
        </p:nvGraphicFramePr>
        <p:xfrm>
          <a:off x="541480" y="1705772"/>
          <a:ext cx="11109040" cy="4354506"/>
        </p:xfrm>
        <a:graphic>
          <a:graphicData uri="http://schemas.openxmlformats.org/drawingml/2006/table">
            <a:tbl>
              <a:tblPr firstRow="1" bandRow="1">
                <a:tableStyleId>{5C22544A-7EE6-4342-B048-85BDC9FD1C3A}</a:tableStyleId>
              </a:tblPr>
              <a:tblGrid>
                <a:gridCol w="703580"/>
                <a:gridCol w="1761641"/>
                <a:gridCol w="3358896"/>
                <a:gridCol w="1761641"/>
                <a:gridCol w="1761641"/>
                <a:gridCol w="1761641"/>
              </a:tblGrid>
              <a:tr h="666426">
                <a:tc>
                  <a:txBody>
                    <a:bodyPr/>
                    <a:lstStyle/>
                    <a:p>
                      <a:r>
                        <a:rPr lang="en-US" sz="1800" b="1" i="0" dirty="0" err="1" smtClean="0">
                          <a:solidFill>
                            <a:schemeClr val="tx1"/>
                          </a:solidFill>
                          <a:latin typeface="Times New Roman" pitchFamily="18" charset="0"/>
                          <a:cs typeface="Times New Roman" pitchFamily="18" charset="0"/>
                        </a:rPr>
                        <a:t>S.No</a:t>
                      </a:r>
                      <a:endParaRPr lang="en-US" sz="1800" b="1" i="0"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Author(s) &amp; Year</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Title of Paper</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Methodology / Approach</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Key Findings / Contribution</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Relevance to Current Project</a:t>
                      </a:r>
                      <a:endParaRPr lang="en-US" dirty="0">
                        <a:solidFill>
                          <a:schemeClr val="tx1"/>
                        </a:solidFill>
                        <a:latin typeface="Times New Roman" pitchFamily="18" charset="0"/>
                        <a:cs typeface="Times New Roman" pitchFamily="18" charset="0"/>
                      </a:endParaRPr>
                    </a:p>
                  </a:txBody>
                  <a:tcPr/>
                </a:tc>
              </a:tr>
              <a:tr h="1093217">
                <a:tc>
                  <a:txBody>
                    <a:bodyPr/>
                    <a:lstStyle/>
                    <a:p>
                      <a:r>
                        <a:rPr lang="en-US" sz="1400" dirty="0" smtClean="0">
                          <a:latin typeface="Times New Roman" pitchFamily="18" charset="0"/>
                          <a:cs typeface="Times New Roman" pitchFamily="18" charset="0"/>
                        </a:rPr>
                        <a:t>11</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 Li et al., 2023</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Calorie Estimation via Deep Learning</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Used a hybrid CNN-LSTM model to predict calories from sequential food images over time.</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Showed that time-based food monitoring enhances accuracy in long-term calorie tracking.</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Inspires your calorie-tracking enhancement for users who upload multiple meal images daily.</a:t>
                      </a:r>
                      <a:endParaRPr lang="en-US" sz="1400" dirty="0">
                        <a:latin typeface="Times New Roman" pitchFamily="18" charset="0"/>
                        <a:cs typeface="Times New Roman" pitchFamily="18" charset="0"/>
                      </a:endParaRPr>
                    </a:p>
                  </a:txBody>
                  <a:tcPr/>
                </a:tc>
              </a:tr>
              <a:tr h="1127760">
                <a:tc>
                  <a:txBody>
                    <a:bodyPr/>
                    <a:lstStyle/>
                    <a:p>
                      <a:r>
                        <a:rPr lang="en-US" sz="1400" dirty="0" smtClean="0">
                          <a:latin typeface="Times New Roman" pitchFamily="18" charset="0"/>
                          <a:cs typeface="Times New Roman" pitchFamily="18" charset="0"/>
                        </a:rPr>
                        <a:t>12</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Wang et al., 2024 </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Image-Based Dietary Assessment Systems</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Surveyed the latest advancements in deep learning for visual dietary assessment.</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Found that transformer-based models outperform CNNs for complex food classification.</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Supports your choice of Gemini (a transformer-based model) for improved accuracy.</a:t>
                      </a:r>
                      <a:endParaRPr lang="en-US" sz="1400" dirty="0">
                        <a:latin typeface="Times New Roman" pitchFamily="18" charset="0"/>
                        <a:cs typeface="Times New Roman" pitchFamily="18" charset="0"/>
                      </a:endParaRPr>
                    </a:p>
                  </a:txBody>
                  <a:tcPr/>
                </a:tc>
              </a:tr>
              <a:tr h="1127760">
                <a:tc>
                  <a:txBody>
                    <a:bodyPr/>
                    <a:lstStyle/>
                    <a:p>
                      <a:r>
                        <a:rPr lang="en-US" sz="1400" b="0" dirty="0" smtClean="0">
                          <a:solidFill>
                            <a:schemeClr val="tx1"/>
                          </a:solidFill>
                          <a:latin typeface="Times New Roman" pitchFamily="18" charset="0"/>
                          <a:cs typeface="Times New Roman" pitchFamily="18" charset="0"/>
                        </a:rPr>
                        <a:t>13</a:t>
                      </a:r>
                      <a:endParaRPr lang="en-US" sz="1400" b="0" dirty="0">
                        <a:solidFill>
                          <a:schemeClr val="tx1"/>
                        </a:solidFill>
                        <a:latin typeface="Times New Roman" pitchFamily="18" charset="0"/>
                        <a:cs typeface="Times New Roman" pitchFamily="18" charset="0"/>
                      </a:endParaRPr>
                    </a:p>
                  </a:txBody>
                  <a:tcPr/>
                </a:tc>
                <a:tc>
                  <a:txBody>
                    <a:bodyPr/>
                    <a:lstStyle/>
                    <a:p>
                      <a:r>
                        <a:rPr lang="en-US" sz="1400" b="0" dirty="0" smtClean="0">
                          <a:solidFill>
                            <a:schemeClr val="tx1"/>
                          </a:solidFill>
                          <a:latin typeface="Times New Roman" pitchFamily="18" charset="0"/>
                          <a:cs typeface="Times New Roman" pitchFamily="18" charset="0"/>
                        </a:rPr>
                        <a:t>Das et al., 2024</a:t>
                      </a:r>
                      <a:endParaRPr lang="en-US" sz="1400" b="0" dirty="0">
                        <a:solidFill>
                          <a:schemeClr val="tx1"/>
                        </a:solidFill>
                        <a:latin typeface="Times New Roman" pitchFamily="18" charset="0"/>
                        <a:cs typeface="Times New Roman" pitchFamily="18" charset="0"/>
                      </a:endParaRPr>
                    </a:p>
                  </a:txBody>
                  <a:tcPr/>
                </a:tc>
                <a:tc>
                  <a:txBody>
                    <a:bodyPr/>
                    <a:lstStyle/>
                    <a:p>
                      <a:r>
                        <a:rPr lang="en-US" sz="1400" dirty="0" smtClean="0">
                          <a:solidFill>
                            <a:schemeClr val="tx1"/>
                          </a:solidFill>
                          <a:latin typeface="Times New Roman" pitchFamily="18" charset="0"/>
                          <a:cs typeface="Times New Roman" pitchFamily="18" charset="0"/>
                        </a:rPr>
                        <a:t> </a:t>
                      </a:r>
                      <a:r>
                        <a:rPr lang="en-US" sz="1400" b="0" dirty="0" smtClean="0">
                          <a:solidFill>
                            <a:schemeClr val="tx1"/>
                          </a:solidFill>
                          <a:latin typeface="Times New Roman" pitchFamily="18" charset="0"/>
                          <a:cs typeface="Times New Roman" pitchFamily="18" charset="0"/>
                        </a:rPr>
                        <a:t>Integrating AI and </a:t>
                      </a:r>
                      <a:r>
                        <a:rPr lang="en-US" sz="1400" b="0" dirty="0" err="1" smtClean="0">
                          <a:solidFill>
                            <a:schemeClr val="tx1"/>
                          </a:solidFill>
                          <a:latin typeface="Times New Roman" pitchFamily="18" charset="0"/>
                          <a:cs typeface="Times New Roman" pitchFamily="18" charset="0"/>
                        </a:rPr>
                        <a:t>IoT</a:t>
                      </a:r>
                      <a:r>
                        <a:rPr lang="en-US" sz="1400" b="0" dirty="0" smtClean="0">
                          <a:solidFill>
                            <a:schemeClr val="tx1"/>
                          </a:solidFill>
                          <a:latin typeface="Times New Roman" pitchFamily="18" charset="0"/>
                          <a:cs typeface="Times New Roman" pitchFamily="18" charset="0"/>
                        </a:rPr>
                        <a:t> for Health Analytics</a:t>
                      </a:r>
                      <a:endParaRPr lang="en-US" sz="1400" b="0" dirty="0">
                        <a:solidFill>
                          <a:schemeClr val="tx1"/>
                        </a:solidFill>
                        <a:latin typeface="Times New Roman" pitchFamily="18" charset="0"/>
                        <a:cs typeface="Times New Roman" pitchFamily="18" charset="0"/>
                      </a:endParaRPr>
                    </a:p>
                  </a:txBody>
                  <a:tcPr/>
                </a:tc>
                <a:tc>
                  <a:txBody>
                    <a:bodyPr/>
                    <a:lstStyle/>
                    <a:p>
                      <a:r>
                        <a:rPr lang="en-US" sz="1400" b="0" dirty="0" smtClean="0">
                          <a:solidFill>
                            <a:schemeClr val="tx1"/>
                          </a:solidFill>
                          <a:latin typeface="Times New Roman" pitchFamily="18" charset="0"/>
                          <a:cs typeface="Times New Roman" pitchFamily="18" charset="0"/>
                        </a:rPr>
                        <a:t>Combined </a:t>
                      </a:r>
                      <a:r>
                        <a:rPr lang="en-US" sz="1400" b="0" dirty="0" err="1" smtClean="0">
                          <a:solidFill>
                            <a:schemeClr val="tx1"/>
                          </a:solidFill>
                          <a:latin typeface="Times New Roman" pitchFamily="18" charset="0"/>
                          <a:cs typeface="Times New Roman" pitchFamily="18" charset="0"/>
                        </a:rPr>
                        <a:t>IoTsensors</a:t>
                      </a:r>
                      <a:r>
                        <a:rPr lang="en-US" sz="1400" b="0" dirty="0" smtClean="0">
                          <a:solidFill>
                            <a:schemeClr val="tx1"/>
                          </a:solidFill>
                          <a:latin typeface="Times New Roman" pitchFamily="18" charset="0"/>
                          <a:cs typeface="Times New Roman" pitchFamily="18" charset="0"/>
                        </a:rPr>
                        <a:t> with AI models to monitor calorie intake and activity level for holistic health tracking.</a:t>
                      </a:r>
                      <a:endParaRPr lang="en-US" sz="1400" b="0" dirty="0">
                        <a:solidFill>
                          <a:schemeClr val="tx1"/>
                        </a:solidFill>
                        <a:latin typeface="Times New Roman" pitchFamily="18" charset="0"/>
                        <a:cs typeface="Times New Roman" pitchFamily="18" charset="0"/>
                      </a:endParaRPr>
                    </a:p>
                  </a:txBody>
                  <a:tcPr/>
                </a:tc>
                <a:tc>
                  <a:txBody>
                    <a:bodyPr/>
                    <a:lstStyle/>
                    <a:p>
                      <a:r>
                        <a:rPr lang="en-US" sz="1400" b="0" dirty="0" smtClean="0">
                          <a:solidFill>
                            <a:schemeClr val="tx1"/>
                          </a:solidFill>
                          <a:latin typeface="Times New Roman" pitchFamily="18" charset="0"/>
                          <a:cs typeface="Times New Roman" pitchFamily="18" charset="0"/>
                        </a:rPr>
                        <a:t>AI-</a:t>
                      </a:r>
                      <a:r>
                        <a:rPr lang="en-US" sz="1400" b="0" dirty="0" err="1" smtClean="0">
                          <a:solidFill>
                            <a:schemeClr val="tx1"/>
                          </a:solidFill>
                          <a:latin typeface="Times New Roman" pitchFamily="18" charset="0"/>
                          <a:cs typeface="Times New Roman" pitchFamily="18" charset="0"/>
                        </a:rPr>
                        <a:t>IoT</a:t>
                      </a:r>
                      <a:r>
                        <a:rPr lang="en-US" sz="1400" b="0" dirty="0" smtClean="0">
                          <a:solidFill>
                            <a:schemeClr val="tx1"/>
                          </a:solidFill>
                          <a:latin typeface="Times New Roman" pitchFamily="18" charset="0"/>
                          <a:cs typeface="Times New Roman" pitchFamily="18" charset="0"/>
                        </a:rPr>
                        <a:t> integration significantly enhances personalized health insights.</a:t>
                      </a:r>
                      <a:endParaRPr lang="en-US" sz="1400" b="0" dirty="0">
                        <a:solidFill>
                          <a:schemeClr val="tx1"/>
                        </a:solidFill>
                        <a:latin typeface="Times New Roman" pitchFamily="18" charset="0"/>
                        <a:cs typeface="Times New Roman" pitchFamily="18" charset="0"/>
                      </a:endParaRPr>
                    </a:p>
                  </a:txBody>
                  <a:tcPr/>
                </a:tc>
                <a:tc>
                  <a:txBody>
                    <a:bodyPr/>
                    <a:lstStyle/>
                    <a:p>
                      <a:r>
                        <a:rPr lang="en-US" sz="1400" b="0" dirty="0" smtClean="0">
                          <a:solidFill>
                            <a:schemeClr val="tx1"/>
                          </a:solidFill>
                          <a:latin typeface="Times New Roman" pitchFamily="18" charset="0"/>
                          <a:cs typeface="Times New Roman" pitchFamily="18" charset="0"/>
                        </a:rPr>
                        <a:t>Connects to your future expansion toward an AI + </a:t>
                      </a:r>
                      <a:r>
                        <a:rPr lang="en-US" sz="1400" b="0" dirty="0" err="1" smtClean="0">
                          <a:solidFill>
                            <a:schemeClr val="tx1"/>
                          </a:solidFill>
                          <a:latin typeface="Times New Roman" pitchFamily="18" charset="0"/>
                          <a:cs typeface="Times New Roman" pitchFamily="18" charset="0"/>
                        </a:rPr>
                        <a:t>IoT</a:t>
                      </a:r>
                      <a:r>
                        <a:rPr lang="en-US" sz="1400" b="0" dirty="0" smtClean="0">
                          <a:solidFill>
                            <a:schemeClr val="tx1"/>
                          </a:solidFill>
                          <a:latin typeface="Times New Roman" pitchFamily="18" charset="0"/>
                          <a:cs typeface="Times New Roman" pitchFamily="18" charset="0"/>
                        </a:rPr>
                        <a:t>-based nutrition ecosystem.</a:t>
                      </a:r>
                      <a:endParaRPr lang="en-US" sz="1400" b="0" dirty="0">
                        <a:solidFill>
                          <a:schemeClr val="tx1"/>
                        </a:solidFill>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200" b="1" dirty="0" smtClean="0">
                <a:solidFill>
                  <a:srgbClr val="FF0000"/>
                </a:solidFill>
                <a:latin typeface="Times New Roman" panose="02020603050405020304" pitchFamily="18" charset="0"/>
                <a:cs typeface="Times New Roman" panose="02020603050405020304" pitchFamily="18" charset="0"/>
              </a:rPr>
              <a:t>LITERATURE REVIEW</a:t>
            </a:r>
            <a:endParaRPr lang="en-IN" sz="3200"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671381460"/>
              </p:ext>
            </p:extLst>
          </p:nvPr>
        </p:nvGraphicFramePr>
        <p:xfrm>
          <a:off x="427739" y="1895160"/>
          <a:ext cx="11336522" cy="3975731"/>
        </p:xfrm>
        <a:graphic>
          <a:graphicData uri="http://schemas.openxmlformats.org/drawingml/2006/table">
            <a:tbl>
              <a:tblPr firstRow="1" bandRow="1">
                <a:tableStyleId>{5C22544A-7EE6-4342-B048-85BDC9FD1C3A}</a:tableStyleId>
              </a:tblPr>
              <a:tblGrid>
                <a:gridCol w="703580"/>
                <a:gridCol w="1762933"/>
                <a:gridCol w="3581210"/>
                <a:gridCol w="1762933"/>
                <a:gridCol w="1762933"/>
                <a:gridCol w="1762933"/>
              </a:tblGrid>
              <a:tr h="827521">
                <a:tc>
                  <a:txBody>
                    <a:bodyPr/>
                    <a:lstStyle/>
                    <a:p>
                      <a:r>
                        <a:rPr lang="en-US" sz="1800" b="1" i="0" dirty="0" err="1" smtClean="0">
                          <a:solidFill>
                            <a:schemeClr val="tx1"/>
                          </a:solidFill>
                          <a:latin typeface="Times New Roman" pitchFamily="18" charset="0"/>
                          <a:cs typeface="Times New Roman" pitchFamily="18" charset="0"/>
                        </a:rPr>
                        <a:t>S.No</a:t>
                      </a:r>
                      <a:endParaRPr lang="en-US" sz="1800" b="1" i="0"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Author(s) &amp; Year</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Title of Paper</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Methodology / Approach</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Key Findings / Contribution</a:t>
                      </a:r>
                      <a:endParaRPr lang="en-US" dirty="0">
                        <a:solidFill>
                          <a:schemeClr val="tx1"/>
                        </a:solidFill>
                        <a:latin typeface="Times New Roman" pitchFamily="18" charset="0"/>
                        <a:cs typeface="Times New Roman" pitchFamily="18" charset="0"/>
                      </a:endParaRPr>
                    </a:p>
                  </a:txBody>
                  <a:tcPr/>
                </a:tc>
                <a:tc>
                  <a:txBody>
                    <a:bodyPr/>
                    <a:lstStyle/>
                    <a:p>
                      <a:r>
                        <a:rPr lang="en-US" dirty="0" smtClean="0">
                          <a:solidFill>
                            <a:schemeClr val="tx1"/>
                          </a:solidFill>
                          <a:latin typeface="Times New Roman" pitchFamily="18" charset="0"/>
                          <a:cs typeface="Times New Roman" pitchFamily="18" charset="0"/>
                        </a:rPr>
                        <a:t>Relevance to Current Project</a:t>
                      </a:r>
                      <a:endParaRPr lang="en-US" dirty="0">
                        <a:solidFill>
                          <a:schemeClr val="tx1"/>
                        </a:solidFill>
                        <a:latin typeface="Times New Roman" pitchFamily="18" charset="0"/>
                        <a:cs typeface="Times New Roman" pitchFamily="18" charset="0"/>
                      </a:endParaRPr>
                    </a:p>
                  </a:txBody>
                  <a:tcPr/>
                </a:tc>
              </a:tr>
              <a:tr h="1450728">
                <a:tc>
                  <a:txBody>
                    <a:bodyPr/>
                    <a:lstStyle/>
                    <a:p>
                      <a:r>
                        <a:rPr lang="en-US" sz="1400" dirty="0" smtClean="0">
                          <a:latin typeface="Times New Roman" pitchFamily="18" charset="0"/>
                          <a:cs typeface="Times New Roman" pitchFamily="18" charset="0"/>
                        </a:rPr>
                        <a:t>14</a:t>
                      </a:r>
                      <a:endParaRPr lang="en-US" sz="1400" dirty="0">
                        <a:latin typeface="Times New Roman" pitchFamily="18" charset="0"/>
                        <a:cs typeface="Times New Roman" pitchFamily="18" charset="0"/>
                      </a:endParaRPr>
                    </a:p>
                  </a:txBody>
                  <a:tcPr/>
                </a:tc>
                <a:tc>
                  <a:txBody>
                    <a:bodyPr/>
                    <a:lstStyle/>
                    <a:p>
                      <a:r>
                        <a:rPr lang="en-US" sz="1400" dirty="0" err="1" smtClean="0">
                          <a:latin typeface="Times New Roman" pitchFamily="18" charset="0"/>
                          <a:cs typeface="Times New Roman" pitchFamily="18" charset="0"/>
                        </a:rPr>
                        <a:t>Pandey</a:t>
                      </a:r>
                      <a:r>
                        <a:rPr lang="en-US" sz="1400" dirty="0" smtClean="0">
                          <a:latin typeface="Times New Roman" pitchFamily="18" charset="0"/>
                          <a:cs typeface="Times New Roman" pitchFamily="18" charset="0"/>
                        </a:rPr>
                        <a:t> et al., 2024 </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Machine Learning in Nutrition Forecasting</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Applied regression-based ML models to predict users’ nutritional needs based on dietary patterns.</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Demonstrated high predictive accuracy in nutrient forecasting for personalized diet plans.</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Supports your system’s potential predictive nutrition suggestion feature using Gemini outputs.</a:t>
                      </a:r>
                      <a:endParaRPr lang="en-US" sz="1400" dirty="0">
                        <a:latin typeface="Times New Roman" pitchFamily="18" charset="0"/>
                        <a:cs typeface="Times New Roman" pitchFamily="18" charset="0"/>
                      </a:endParaRPr>
                    </a:p>
                  </a:txBody>
                  <a:tcPr/>
                </a:tc>
              </a:tr>
              <a:tr h="1697482">
                <a:tc>
                  <a:txBody>
                    <a:bodyPr/>
                    <a:lstStyle/>
                    <a:p>
                      <a:r>
                        <a:rPr lang="en-US" sz="1400" dirty="0" smtClean="0">
                          <a:latin typeface="Times New Roman" pitchFamily="18" charset="0"/>
                          <a:cs typeface="Times New Roman" pitchFamily="18" charset="0"/>
                        </a:rPr>
                        <a:t>15</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Kumar et al., 2024</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Gemini AI for Multimodal Health Applications</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Explored the use of Google Gemini in processing text, images, and sensor data for health analytics.</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Gemini’s multimodal reasoning enables context-aware decisions in health monitoring applications.</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Directly validates your choice of Gemini model for comprehensive food and nutrition analysis.</a:t>
                      </a:r>
                      <a:endParaRPr lang="en-US" sz="1400" dirty="0">
                        <a:latin typeface="Times New Roman" pitchFamily="18" charset="0"/>
                        <a:cs typeface="Times New Roman" pitchFamily="18" charset="0"/>
                      </a:endParaRPr>
                    </a:p>
                  </a:txBody>
                  <a:tcPr/>
                </a:tc>
              </a:tr>
            </a:tbl>
          </a:graphicData>
        </a:graphic>
      </p:graphicFrame>
      <p:sp>
        <p:nvSpPr>
          <p:cNvPr id="4" name="Date Placeholder 3"/>
          <p:cNvSpPr>
            <a:spLocks noGrp="1"/>
          </p:cNvSpPr>
          <p:nvPr>
            <p:ph type="dt" sz="half" idx="10"/>
          </p:nvPr>
        </p:nvSpPr>
        <p:spPr/>
        <p:txBody>
          <a:bodyPr/>
          <a:lstStyle/>
          <a:p>
            <a:r>
              <a:rPr lang="en-US" dirty="0"/>
              <a:t>CS23533 – FOAI Review</a:t>
            </a:r>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pPr/>
              <a:t>11</a:t>
            </a:fld>
            <a:endParaRPr lang="en-IN"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3200" b="1" dirty="0" smtClean="0">
                <a:solidFill>
                  <a:srgbClr val="FF0000"/>
                </a:solidFill>
                <a:latin typeface="Times New Roman" panose="02020603050405020304" pitchFamily="18" charset="0"/>
                <a:cs typeface="Times New Roman" panose="02020603050405020304" pitchFamily="18" charset="0"/>
              </a:rPr>
              <a:t>EXISTING SYSTEM</a:t>
            </a:r>
            <a:endParaRPr lang="en-IN"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 typeface="Arial" panose="020B0604020202020204" pitchFamily="34" charset="0"/>
              <a:buChar char="•"/>
            </a:pPr>
            <a:endParaRPr lang="en-US" sz="2800" dirty="0" smtClean="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Manual Data Entry: </a:t>
            </a:r>
            <a:r>
              <a:rPr lang="en-US" sz="2000" dirty="0" smtClean="0">
                <a:latin typeface="Times New Roman" panose="02020603050405020304" pitchFamily="18" charset="0"/>
                <a:cs typeface="Times New Roman" panose="02020603050405020304" pitchFamily="18" charset="0"/>
              </a:rPr>
              <a:t>Users must search for each food item in a database and manually input quantities, which is time-consuming and prone to error.</a:t>
            </a:r>
          </a:p>
          <a:p>
            <a:pPr>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Inaccurate Portion Estimation: </a:t>
            </a:r>
            <a:r>
              <a:rPr lang="en-US" sz="2000" dirty="0" smtClean="0">
                <a:latin typeface="Times New Roman" panose="02020603050405020304" pitchFamily="18" charset="0"/>
                <a:cs typeface="Times New Roman" panose="02020603050405020304" pitchFamily="18" charset="0"/>
              </a:rPr>
              <a:t>Users often struggle to accurately estimate portion sizes, leading to significant inaccuracies in calorie and nutrient calculations.</a:t>
            </a:r>
          </a:p>
          <a:p>
            <a:pPr>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Requires High User Discipline: </a:t>
            </a:r>
            <a:r>
              <a:rPr lang="en-US" sz="2000" dirty="0" smtClean="0">
                <a:latin typeface="Times New Roman" panose="02020603050405020304" pitchFamily="18" charset="0"/>
                <a:cs typeface="Times New Roman" panose="02020603050405020304" pitchFamily="18" charset="0"/>
              </a:rPr>
              <a:t>The tedious nature of manual tracking leads to inconsistent use and high abandonment rates for diet apps.</a:t>
            </a:r>
          </a:p>
          <a:p>
            <a:pPr>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Limited Analysis: </a:t>
            </a:r>
            <a:r>
              <a:rPr lang="en-US" sz="2000" dirty="0" smtClean="0">
                <a:latin typeface="Times New Roman" panose="02020603050405020304" pitchFamily="18" charset="0"/>
                <a:cs typeface="Times New Roman" panose="02020603050405020304" pitchFamily="18" charset="0"/>
              </a:rPr>
              <a:t>Most existing apps provide raw data but lack the capability to offer intelligent, context-aware feedback or assess the overall quality of a meal.</a:t>
            </a:r>
          </a:p>
          <a:p>
            <a:pPr>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Professional Consultation: </a:t>
            </a:r>
            <a:r>
              <a:rPr lang="en-US" sz="2000" dirty="0" smtClean="0">
                <a:latin typeface="Times New Roman" panose="02020603050405020304" pitchFamily="18" charset="0"/>
                <a:cs typeface="Times New Roman" panose="02020603050405020304" pitchFamily="18" charset="0"/>
              </a:rPr>
              <a:t>Seeking advice from a human nutritionist is effective but can be expensive and is not accessible to everyone on a daily basis.</a:t>
            </a:r>
          </a:p>
          <a:p>
            <a:pPr>
              <a:buFont typeface="Arial" panose="020B0604020202020204" pitchFamily="34" charset="0"/>
              <a:buChar char="•"/>
            </a:pPr>
            <a:endParaRPr lang="en-US" sz="2800" dirty="0" smtClean="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dirty="0"/>
              <a:t>CS23533 – FOAI Review</a:t>
            </a:r>
            <a:endParaRPr lang="en-IN" dirty="0"/>
          </a:p>
        </p:txBody>
      </p:sp>
      <p:sp>
        <p:nvSpPr>
          <p:cNvPr id="5" name="Footer Placeholder 4"/>
          <p:cNvSpPr>
            <a:spLocks noGrp="1"/>
          </p:cNvSpPr>
          <p:nvPr>
            <p:ph type="ftr" sz="quarter" idx="11"/>
          </p:nvPr>
        </p:nvSpPr>
        <p:spPr/>
        <p:txBody>
          <a:bodyPr/>
          <a:lstStyle/>
          <a:p>
            <a:r>
              <a:rPr lang="en-US"/>
              <a:t>Department of Computer Science and Engineering</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pPr/>
              <a:t>12</a:t>
            </a:fld>
            <a:endParaRPr lang="en-IN"/>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3200" b="1" dirty="0" smtClean="0">
                <a:solidFill>
                  <a:srgbClr val="FF0000"/>
                </a:solidFill>
                <a:latin typeface="Times New Roman" panose="02020603050405020304" pitchFamily="18" charset="0"/>
                <a:cs typeface="Times New Roman" panose="02020603050405020304" pitchFamily="18" charset="0"/>
              </a:rPr>
              <a:t>PROPOSED METHOD</a:t>
            </a:r>
          </a:p>
        </p:txBody>
      </p:sp>
      <p:sp>
        <p:nvSpPr>
          <p:cNvPr id="3" name="Content Placeholder 2"/>
          <p:cNvSpPr>
            <a:spLocks noGrp="1"/>
          </p:cNvSpPr>
          <p:nvPr>
            <p:ph idx="1"/>
          </p:nvPr>
        </p:nvSpPr>
        <p:spPr/>
        <p:txBody>
          <a:bodyPr/>
          <a:lstStyle/>
          <a:p>
            <a:pPr lvl="0">
              <a:buClr>
                <a:srgbClr val="CC0000"/>
              </a:buClr>
              <a:buFont typeface="Arial" panose="020B0604020202020204" pitchFamily="34" charset="0"/>
              <a:buChar char="•"/>
              <a:defRPr/>
            </a:pPr>
            <a:r>
              <a:rPr lang="en-US" altLang="en-US" sz="2000" dirty="0" smtClean="0">
                <a:solidFill>
                  <a:srgbClr val="000000"/>
                </a:solidFill>
                <a:latin typeface="Times New Roman" pitchFamily="18" charset="0"/>
                <a:cs typeface="Times New Roman" pitchFamily="18" charset="0"/>
              </a:rPr>
              <a:t>The proposed method utilizes Google's Gemini AI/with </a:t>
            </a:r>
            <a:r>
              <a:rPr lang="en-US" altLang="en-US" sz="2000" dirty="0" err="1" smtClean="0">
                <a:solidFill>
                  <a:srgbClr val="000000"/>
                </a:solidFill>
                <a:latin typeface="Times New Roman" pitchFamily="18" charset="0"/>
                <a:cs typeface="Times New Roman" pitchFamily="18" charset="0"/>
              </a:rPr>
              <a:t>Clarifai</a:t>
            </a:r>
            <a:r>
              <a:rPr lang="en-US" altLang="en-US" sz="2000" dirty="0" smtClean="0">
                <a:solidFill>
                  <a:srgbClr val="000000"/>
                </a:solidFill>
                <a:latin typeface="Times New Roman" pitchFamily="18" charset="0"/>
                <a:cs typeface="Times New Roman" pitchFamily="18" charset="0"/>
              </a:rPr>
              <a:t> to create a fully automated, image-based nutrition analysis system.</a:t>
            </a:r>
          </a:p>
          <a:p>
            <a:pPr lvl="0">
              <a:buClr>
                <a:srgbClr val="CC0000"/>
              </a:buClr>
              <a:buFont typeface="Arial" panose="020B0604020202020204" pitchFamily="34" charset="0"/>
              <a:buChar char="•"/>
              <a:defRPr/>
            </a:pPr>
            <a:r>
              <a:rPr lang="en-US" altLang="en-US" sz="2000" dirty="0" smtClean="0">
                <a:solidFill>
                  <a:srgbClr val="000000"/>
                </a:solidFill>
                <a:latin typeface="Times New Roman" pitchFamily="18" charset="0"/>
                <a:cs typeface="Times New Roman" pitchFamily="18" charset="0"/>
              </a:rPr>
              <a:t>By simply uploading a photo of a meal, the user initiates a process where the advanced multimodal AI:</a:t>
            </a:r>
          </a:p>
          <a:p>
            <a:pPr lvl="1">
              <a:buClr>
                <a:srgbClr val="CC0000"/>
              </a:buClr>
              <a:buFont typeface="+mj-lt"/>
              <a:buAutoNum type="arabicPeriod"/>
              <a:defRPr/>
            </a:pPr>
            <a:r>
              <a:rPr lang="en-US" altLang="en-US" sz="2000" dirty="0" smtClean="0">
                <a:solidFill>
                  <a:srgbClr val="000000"/>
                </a:solidFill>
                <a:latin typeface="Times New Roman" pitchFamily="18" charset="0"/>
                <a:cs typeface="Times New Roman" pitchFamily="18" charset="0"/>
              </a:rPr>
              <a:t>Identifies all food items present in the image with high accuracy.</a:t>
            </a:r>
          </a:p>
          <a:p>
            <a:pPr lvl="1">
              <a:buClr>
                <a:srgbClr val="CC0000"/>
              </a:buClr>
              <a:buFont typeface="+mj-lt"/>
              <a:buAutoNum type="arabicPeriod"/>
              <a:defRPr/>
            </a:pPr>
            <a:r>
              <a:rPr lang="en-US" altLang="en-US" sz="2000" dirty="0" smtClean="0">
                <a:solidFill>
                  <a:srgbClr val="000000"/>
                </a:solidFill>
                <a:latin typeface="Times New Roman" pitchFamily="18" charset="0"/>
                <a:cs typeface="Times New Roman" pitchFamily="18" charset="0"/>
              </a:rPr>
              <a:t>Estimates the portion size and volume of each item.</a:t>
            </a:r>
          </a:p>
          <a:p>
            <a:pPr lvl="1">
              <a:buClr>
                <a:srgbClr val="CC0000"/>
              </a:buClr>
              <a:buFont typeface="+mj-lt"/>
              <a:buAutoNum type="arabicPeriod"/>
              <a:defRPr/>
            </a:pPr>
            <a:r>
              <a:rPr lang="en-US" altLang="en-US" sz="2000" dirty="0" smtClean="0">
                <a:solidFill>
                  <a:srgbClr val="000000"/>
                </a:solidFill>
                <a:latin typeface="Times New Roman" pitchFamily="18" charset="0"/>
                <a:cs typeface="Times New Roman" pitchFamily="18" charset="0"/>
              </a:rPr>
              <a:t>Calculates the total caloric value and provides a detailed breakdown of macronutrients (carbohydrates, proteins, fats) and key micronutrients.</a:t>
            </a:r>
          </a:p>
          <a:p>
            <a:pPr lvl="1">
              <a:buClr>
                <a:srgbClr val="CC0000"/>
              </a:buClr>
              <a:buFont typeface="+mj-lt"/>
              <a:buAutoNum type="arabicPeriod"/>
              <a:defRPr/>
            </a:pPr>
            <a:r>
              <a:rPr lang="en-US" altLang="en-US" sz="2000" dirty="0" smtClean="0">
                <a:solidFill>
                  <a:srgbClr val="000000"/>
                </a:solidFill>
                <a:latin typeface="Times New Roman" pitchFamily="18" charset="0"/>
                <a:cs typeface="Times New Roman" pitchFamily="18" charset="0"/>
              </a:rPr>
              <a:t>Generates an easy-to-understand report that assesses the meal's healthiness and offers practical suggestions for improvement.</a:t>
            </a:r>
          </a:p>
          <a:p>
            <a:pPr lvl="0">
              <a:buClr>
                <a:srgbClr val="CC0000"/>
              </a:buClr>
              <a:buFont typeface="Arial" panose="020B0604020202020204" pitchFamily="34" charset="0"/>
              <a:buChar char="•"/>
              <a:defRPr/>
            </a:pPr>
            <a:r>
              <a:rPr lang="en-US" altLang="en-US" sz="2000" dirty="0" smtClean="0">
                <a:solidFill>
                  <a:srgbClr val="000000"/>
                </a:solidFill>
                <a:latin typeface="Times New Roman" pitchFamily="18" charset="0"/>
                <a:cs typeface="Times New Roman" pitchFamily="18" charset="0"/>
              </a:rPr>
              <a:t>This approach eliminates manual entry, reduces human error, and provides instant, actionable feedback, making nutritional tracking both effortless and effective.</a:t>
            </a:r>
            <a:endParaRPr lang="en-IN"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dirty="0"/>
              <a:t>CS23533 – FOAI Review</a:t>
            </a:r>
            <a:endParaRPr lang="en-IN" dirty="0"/>
          </a:p>
        </p:txBody>
      </p:sp>
      <p:sp>
        <p:nvSpPr>
          <p:cNvPr id="5" name="Footer Placeholder 4"/>
          <p:cNvSpPr>
            <a:spLocks noGrp="1"/>
          </p:cNvSpPr>
          <p:nvPr>
            <p:ph type="ftr" sz="quarter" idx="11"/>
          </p:nvPr>
        </p:nvSpPr>
        <p:spPr/>
        <p:txBody>
          <a:bodyPr/>
          <a:lstStyle/>
          <a:p>
            <a:r>
              <a:rPr lang="en-US"/>
              <a:t>Department of Computer Science and Engineering</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pPr/>
              <a:t>13</a:t>
            </a:fld>
            <a:endParaRPr lang="en-IN"/>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3200" b="1" dirty="0" smtClean="0">
                <a:solidFill>
                  <a:srgbClr val="FF0000"/>
                </a:solidFill>
                <a:latin typeface="Times New Roman" panose="02020603050405020304" pitchFamily="18" charset="0"/>
                <a:cs typeface="Times New Roman" panose="02020603050405020304" pitchFamily="18" charset="0"/>
              </a:rPr>
              <a:t> METHODOLOGY</a:t>
            </a:r>
          </a:p>
        </p:txBody>
      </p:sp>
      <p:sp>
        <p:nvSpPr>
          <p:cNvPr id="3" name="Content Placeholder 2"/>
          <p:cNvSpPr>
            <a:spLocks noGrp="1"/>
          </p:cNvSpPr>
          <p:nvPr>
            <p:ph idx="1"/>
          </p:nvPr>
        </p:nvSpPr>
        <p:spPr>
          <a:xfrm>
            <a:off x="731549" y="1749425"/>
            <a:ext cx="10728902" cy="4267200"/>
          </a:xfrm>
        </p:spPr>
        <p:txBody>
          <a:bodyPr/>
          <a:lstStyle/>
          <a:p>
            <a:pPr lvl="0">
              <a:buClr>
                <a:srgbClr val="CC0000"/>
              </a:buClr>
              <a:buFont typeface="Arial" panose="020B0604020202020204" pitchFamily="34" charset="0"/>
              <a:buChar char="•"/>
              <a:defRPr/>
            </a:pPr>
            <a:endParaRPr lang="en-US" altLang="en-US" sz="2000" dirty="0" smtClean="0">
              <a:solidFill>
                <a:srgbClr val="000000"/>
              </a:solidFill>
              <a:latin typeface="Times New Roman" pitchFamily="18" charset="0"/>
              <a:cs typeface="Times New Roman" pitchFamily="18" charset="0"/>
            </a:endParaRPr>
          </a:p>
          <a:p>
            <a:pPr lvl="0">
              <a:buClr>
                <a:srgbClr val="CC0000"/>
              </a:buClr>
              <a:buFont typeface="Arial" panose="020B0604020202020204" pitchFamily="34" charset="0"/>
              <a:buChar char="•"/>
              <a:defRPr/>
            </a:pPr>
            <a:r>
              <a:rPr lang="en-US" altLang="en-US" sz="2000" b="1" dirty="0">
                <a:solidFill>
                  <a:srgbClr val="000000"/>
                </a:solidFill>
                <a:latin typeface="Times New Roman" pitchFamily="18" charset="0"/>
                <a:cs typeface="Times New Roman" pitchFamily="18" charset="0"/>
              </a:rPr>
              <a:t>Data Input &amp; Image Processing: </a:t>
            </a:r>
            <a:r>
              <a:rPr lang="en-US" altLang="en-US" sz="2000" dirty="0">
                <a:solidFill>
                  <a:srgbClr val="000000"/>
                </a:solidFill>
                <a:latin typeface="Times New Roman" pitchFamily="18" charset="0"/>
                <a:cs typeface="Times New Roman" pitchFamily="18" charset="0"/>
              </a:rPr>
              <a:t>Users upload a food image via the application's Python </a:t>
            </a:r>
            <a:r>
              <a:rPr lang="en-US" altLang="en-US" sz="2000" dirty="0" err="1">
                <a:solidFill>
                  <a:srgbClr val="000000"/>
                </a:solidFill>
                <a:latin typeface="Times New Roman" pitchFamily="18" charset="0"/>
                <a:cs typeface="Times New Roman" pitchFamily="18" charset="0"/>
              </a:rPr>
              <a:t>Tkinter</a:t>
            </a:r>
            <a:r>
              <a:rPr lang="en-US" altLang="en-US" sz="2000" dirty="0">
                <a:solidFill>
                  <a:srgbClr val="000000"/>
                </a:solidFill>
                <a:latin typeface="Times New Roman" pitchFamily="18" charset="0"/>
                <a:cs typeface="Times New Roman" pitchFamily="18" charset="0"/>
              </a:rPr>
              <a:t> GUI. The Pillow (PIL) library processes the image, ensuring it is in the correct format and size for the food recognition API</a:t>
            </a:r>
            <a:r>
              <a:rPr lang="en-US" altLang="en-US" sz="2000" dirty="0" smtClean="0">
                <a:solidFill>
                  <a:srgbClr val="000000"/>
                </a:solidFill>
                <a:latin typeface="Times New Roman" pitchFamily="18" charset="0"/>
                <a:cs typeface="Times New Roman" pitchFamily="18" charset="0"/>
              </a:rPr>
              <a:t>.</a:t>
            </a:r>
          </a:p>
          <a:p>
            <a:pPr lvl="0">
              <a:buClr>
                <a:srgbClr val="CC0000"/>
              </a:buClr>
              <a:buFont typeface="Arial" panose="020B0604020202020204" pitchFamily="34" charset="0"/>
              <a:buChar char="•"/>
              <a:defRPr/>
            </a:pPr>
            <a:r>
              <a:rPr lang="en-US" altLang="en-US" sz="2000" b="1" dirty="0" smtClean="0">
                <a:solidFill>
                  <a:srgbClr val="000000"/>
                </a:solidFill>
                <a:latin typeface="Times New Roman" pitchFamily="18" charset="0"/>
                <a:cs typeface="Times New Roman" pitchFamily="18" charset="0"/>
              </a:rPr>
              <a:t>AI </a:t>
            </a:r>
            <a:r>
              <a:rPr lang="en-US" altLang="en-US" sz="2000" b="1" dirty="0">
                <a:solidFill>
                  <a:srgbClr val="000000"/>
                </a:solidFill>
                <a:latin typeface="Times New Roman" pitchFamily="18" charset="0"/>
                <a:cs typeface="Times New Roman" pitchFamily="18" charset="0"/>
              </a:rPr>
              <a:t>Model Integration (</a:t>
            </a:r>
            <a:r>
              <a:rPr lang="en-US" altLang="en-US" sz="2000" b="1" dirty="0" smtClean="0">
                <a:solidFill>
                  <a:srgbClr val="000000"/>
                </a:solidFill>
                <a:latin typeface="Times New Roman" pitchFamily="18" charset="0"/>
                <a:cs typeface="Times New Roman" pitchFamily="18" charset="0"/>
              </a:rPr>
              <a:t>Two-Format):</a:t>
            </a:r>
            <a:r>
              <a:rPr lang="en-US" altLang="en-US" sz="2000" dirty="0" smtClean="0">
                <a:solidFill>
                  <a:srgbClr val="000000"/>
                </a:solidFill>
                <a:latin typeface="Times New Roman" pitchFamily="18" charset="0"/>
                <a:cs typeface="Times New Roman" pitchFamily="18" charset="0"/>
              </a:rPr>
              <a:t> </a:t>
            </a:r>
            <a:r>
              <a:rPr lang="en-US" altLang="en-US" sz="2000" dirty="0">
                <a:solidFill>
                  <a:srgbClr val="000000"/>
                </a:solidFill>
                <a:latin typeface="Times New Roman" pitchFamily="18" charset="0"/>
                <a:cs typeface="Times New Roman" pitchFamily="18" charset="0"/>
              </a:rPr>
              <a:t>The system first sends the processed image to the Google's Gemini </a:t>
            </a:r>
            <a:r>
              <a:rPr lang="en-US" altLang="en-US" sz="2000" dirty="0" smtClean="0">
                <a:solidFill>
                  <a:srgbClr val="000000"/>
                </a:solidFill>
                <a:latin typeface="Times New Roman" pitchFamily="18" charset="0"/>
                <a:cs typeface="Times New Roman" pitchFamily="18" charset="0"/>
              </a:rPr>
              <a:t>AI/with </a:t>
            </a:r>
            <a:r>
              <a:rPr lang="en-US" altLang="en-US" sz="2000" dirty="0" err="1" smtClean="0">
                <a:solidFill>
                  <a:srgbClr val="000000"/>
                </a:solidFill>
                <a:latin typeface="Times New Roman" pitchFamily="18" charset="0"/>
                <a:cs typeface="Times New Roman" pitchFamily="18" charset="0"/>
              </a:rPr>
              <a:t>Clarifai</a:t>
            </a:r>
            <a:r>
              <a:rPr lang="en-US" altLang="en-US" sz="2000" dirty="0" smtClean="0">
                <a:solidFill>
                  <a:srgbClr val="000000"/>
                </a:solidFill>
                <a:latin typeface="Times New Roman" pitchFamily="18" charset="0"/>
                <a:cs typeface="Times New Roman" pitchFamily="18" charset="0"/>
              </a:rPr>
              <a:t> </a:t>
            </a:r>
            <a:r>
              <a:rPr lang="en-US" altLang="en-US" sz="2000" dirty="0">
                <a:solidFill>
                  <a:srgbClr val="000000"/>
                </a:solidFill>
                <a:latin typeface="Times New Roman" pitchFamily="18" charset="0"/>
                <a:cs typeface="Times New Roman" pitchFamily="18" charset="0"/>
              </a:rPr>
              <a:t>API, a specialized model for food recognition. Google's Gemini </a:t>
            </a:r>
            <a:r>
              <a:rPr lang="en-US" altLang="en-US" sz="2000" dirty="0" smtClean="0">
                <a:solidFill>
                  <a:srgbClr val="000000"/>
                </a:solidFill>
                <a:latin typeface="Times New Roman" pitchFamily="18" charset="0"/>
                <a:cs typeface="Times New Roman" pitchFamily="18" charset="0"/>
              </a:rPr>
              <a:t>AI/with </a:t>
            </a:r>
            <a:r>
              <a:rPr lang="en-US" altLang="en-US" sz="2000" dirty="0" err="1" smtClean="0">
                <a:solidFill>
                  <a:srgbClr val="000000"/>
                </a:solidFill>
                <a:latin typeface="Times New Roman" pitchFamily="18" charset="0"/>
                <a:cs typeface="Times New Roman" pitchFamily="18" charset="0"/>
              </a:rPr>
              <a:t>Clarifai</a:t>
            </a:r>
            <a:r>
              <a:rPr lang="en-US" altLang="en-US" sz="2000" dirty="0" smtClean="0">
                <a:solidFill>
                  <a:srgbClr val="000000"/>
                </a:solidFill>
                <a:latin typeface="Times New Roman" pitchFamily="18" charset="0"/>
                <a:cs typeface="Times New Roman" pitchFamily="18" charset="0"/>
              </a:rPr>
              <a:t> </a:t>
            </a:r>
            <a:r>
              <a:rPr lang="en-US" altLang="en-US" sz="2000" dirty="0">
                <a:solidFill>
                  <a:srgbClr val="000000"/>
                </a:solidFill>
                <a:latin typeface="Times New Roman" pitchFamily="18" charset="0"/>
                <a:cs typeface="Times New Roman" pitchFamily="18" charset="0"/>
              </a:rPr>
              <a:t>analyzes the image and returns the name of the identified food item (e.g</a:t>
            </a:r>
            <a:r>
              <a:rPr lang="en-US" altLang="en-US" sz="2000" dirty="0" smtClean="0">
                <a:solidFill>
                  <a:srgbClr val="000000"/>
                </a:solidFill>
                <a:latin typeface="Times New Roman" pitchFamily="18" charset="0"/>
                <a:cs typeface="Times New Roman" pitchFamily="18" charset="0"/>
              </a:rPr>
              <a:t>., "</a:t>
            </a:r>
            <a:r>
              <a:rPr lang="en-US" altLang="en-US" sz="2000" dirty="0">
                <a:solidFill>
                  <a:srgbClr val="000000"/>
                </a:solidFill>
                <a:latin typeface="Times New Roman" pitchFamily="18" charset="0"/>
                <a:cs typeface="Times New Roman" pitchFamily="18" charset="0"/>
              </a:rPr>
              <a:t>Pizza</a:t>
            </a:r>
            <a:r>
              <a:rPr lang="en-US" altLang="en-US" sz="2000" dirty="0" smtClean="0">
                <a:solidFill>
                  <a:srgbClr val="000000"/>
                </a:solidFill>
                <a:latin typeface="Times New Roman" pitchFamily="18" charset="0"/>
                <a:cs typeface="Times New Roman" pitchFamily="18" charset="0"/>
              </a:rPr>
              <a:t>").</a:t>
            </a:r>
          </a:p>
          <a:p>
            <a:pPr lvl="0">
              <a:buClr>
                <a:srgbClr val="CC0000"/>
              </a:buClr>
              <a:buFont typeface="Arial" panose="020B0604020202020204" pitchFamily="34" charset="0"/>
              <a:buChar char="•"/>
              <a:defRPr/>
            </a:pPr>
            <a:r>
              <a:rPr lang="en-US" altLang="en-US" sz="2000" b="1" dirty="0" smtClean="0">
                <a:solidFill>
                  <a:srgbClr val="000000"/>
                </a:solidFill>
                <a:latin typeface="Times New Roman" pitchFamily="18" charset="0"/>
                <a:cs typeface="Times New Roman" pitchFamily="18" charset="0"/>
              </a:rPr>
              <a:t>Nutritional </a:t>
            </a:r>
            <a:r>
              <a:rPr lang="en-US" altLang="en-US" sz="2000" b="1" dirty="0">
                <a:solidFill>
                  <a:srgbClr val="000000"/>
                </a:solidFill>
                <a:latin typeface="Times New Roman" pitchFamily="18" charset="0"/>
                <a:cs typeface="Times New Roman" pitchFamily="18" charset="0"/>
              </a:rPr>
              <a:t>Analysis:</a:t>
            </a:r>
            <a:r>
              <a:rPr lang="en-US" altLang="en-US" sz="2000" dirty="0">
                <a:solidFill>
                  <a:srgbClr val="000000"/>
                </a:solidFill>
                <a:latin typeface="Times New Roman" pitchFamily="18" charset="0"/>
                <a:cs typeface="Times New Roman" pitchFamily="18" charset="0"/>
              </a:rPr>
              <a:t> This food name, along with the user's quantity input (e.g., "1 slice"), is then sent to the Google Gemini API. The Gemini model uses this text-based information to perform the detailed nutritional analysis</a:t>
            </a:r>
            <a:r>
              <a:rPr lang="en-US" altLang="en-US" sz="2000" dirty="0" smtClean="0">
                <a:solidFill>
                  <a:srgbClr val="000000"/>
                </a:solidFill>
                <a:latin typeface="Times New Roman" pitchFamily="18" charset="0"/>
                <a:cs typeface="Times New Roman" pitchFamily="18" charset="0"/>
              </a:rPr>
              <a:t>.</a:t>
            </a:r>
          </a:p>
          <a:p>
            <a:pPr lvl="0">
              <a:buClr>
                <a:srgbClr val="CC0000"/>
              </a:buClr>
              <a:buFont typeface="Arial" panose="020B0604020202020204" pitchFamily="34" charset="0"/>
              <a:buChar char="•"/>
              <a:defRPr/>
            </a:pPr>
            <a:r>
              <a:rPr lang="en-US" altLang="en-US" sz="2000" b="1" dirty="0" smtClean="0">
                <a:solidFill>
                  <a:srgbClr val="000000"/>
                </a:solidFill>
                <a:latin typeface="Times New Roman" pitchFamily="18" charset="0"/>
                <a:cs typeface="Times New Roman" pitchFamily="18" charset="0"/>
              </a:rPr>
              <a:t>Report </a:t>
            </a:r>
            <a:r>
              <a:rPr lang="en-US" altLang="en-US" sz="2000" b="1" dirty="0">
                <a:solidFill>
                  <a:srgbClr val="000000"/>
                </a:solidFill>
                <a:latin typeface="Times New Roman" pitchFamily="18" charset="0"/>
                <a:cs typeface="Times New Roman" pitchFamily="18" charset="0"/>
              </a:rPr>
              <a:t>Generation: </a:t>
            </a:r>
            <a:r>
              <a:rPr lang="en-US" altLang="en-US" sz="2000" dirty="0">
                <a:solidFill>
                  <a:srgbClr val="000000"/>
                </a:solidFill>
                <a:latin typeface="Times New Roman" pitchFamily="18" charset="0"/>
                <a:cs typeface="Times New Roman" pitchFamily="18" charset="0"/>
              </a:rPr>
              <a:t>The Gemini API generates a comprehensive, easy-to-read nutritional report. The results are sent back to the application and displayed directly to the user in the </a:t>
            </a:r>
            <a:r>
              <a:rPr lang="en-US" altLang="en-US" sz="2000" dirty="0" err="1">
                <a:solidFill>
                  <a:srgbClr val="000000"/>
                </a:solidFill>
                <a:latin typeface="Times New Roman" pitchFamily="18" charset="0"/>
                <a:cs typeface="Times New Roman" pitchFamily="18" charset="0"/>
              </a:rPr>
              <a:t>Tkinter</a:t>
            </a:r>
            <a:r>
              <a:rPr lang="en-US" altLang="en-US" sz="2000" dirty="0">
                <a:solidFill>
                  <a:srgbClr val="000000"/>
                </a:solidFill>
                <a:latin typeface="Times New Roman" pitchFamily="18" charset="0"/>
                <a:cs typeface="Times New Roman" pitchFamily="18" charset="0"/>
              </a:rPr>
              <a:t> window and saved to a local CSV file for their records.</a:t>
            </a:r>
            <a:endParaRPr lang="en-IN"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dirty="0"/>
              <a:t>CS23533 – FOAI Review</a:t>
            </a:r>
            <a:endParaRPr lang="en-IN" dirty="0"/>
          </a:p>
        </p:txBody>
      </p:sp>
      <p:sp>
        <p:nvSpPr>
          <p:cNvPr id="5" name="Footer Placeholder 4"/>
          <p:cNvSpPr>
            <a:spLocks noGrp="1"/>
          </p:cNvSpPr>
          <p:nvPr>
            <p:ph type="ftr" sz="quarter" idx="11"/>
          </p:nvPr>
        </p:nvSpPr>
        <p:spPr/>
        <p:txBody>
          <a:bodyPr/>
          <a:lstStyle/>
          <a:p>
            <a:r>
              <a:rPr lang="en-US"/>
              <a:t>Department of Computer Science and Engineering</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pPr/>
              <a:t>14</a:t>
            </a:fld>
            <a:endParaRPr lang="en-IN"/>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3200" b="1" dirty="0" smtClean="0">
                <a:solidFill>
                  <a:srgbClr val="FF0000"/>
                </a:solidFill>
                <a:latin typeface="Times New Roman" panose="02020603050405020304" pitchFamily="18" charset="0"/>
                <a:cs typeface="Times New Roman" panose="02020603050405020304" pitchFamily="18" charset="0"/>
              </a:rPr>
              <a:t> ARCHITECTURE DIAGRAM</a:t>
            </a:r>
          </a:p>
        </p:txBody>
      </p:sp>
      <p:sp>
        <p:nvSpPr>
          <p:cNvPr id="4" name="Date Placeholder 3"/>
          <p:cNvSpPr>
            <a:spLocks noGrp="1"/>
          </p:cNvSpPr>
          <p:nvPr>
            <p:ph type="dt" sz="half" idx="10"/>
          </p:nvPr>
        </p:nvSpPr>
        <p:spPr/>
        <p:txBody>
          <a:bodyPr/>
          <a:lstStyle/>
          <a:p>
            <a:r>
              <a:rPr lang="en-US" dirty="0"/>
              <a:t>CS23533 – FOAI Review</a:t>
            </a:r>
            <a:endParaRPr lang="en-IN" dirty="0"/>
          </a:p>
        </p:txBody>
      </p:sp>
      <p:sp>
        <p:nvSpPr>
          <p:cNvPr id="5" name="Footer Placeholder 4"/>
          <p:cNvSpPr>
            <a:spLocks noGrp="1"/>
          </p:cNvSpPr>
          <p:nvPr>
            <p:ph type="ftr" sz="quarter" idx="11"/>
          </p:nvPr>
        </p:nvSpPr>
        <p:spPr/>
        <p:txBody>
          <a:bodyPr/>
          <a:lstStyle/>
          <a:p>
            <a:r>
              <a:rPr lang="en-US"/>
              <a:t>Department of Computer Science and Engineering</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pPr/>
              <a:t>15</a:t>
            </a:fld>
            <a:endParaRPr lang="en-IN"/>
          </a:p>
        </p:txBody>
      </p:sp>
      <p:sp>
        <p:nvSpPr>
          <p:cNvPr id="8" name="Content Placeholder 7"/>
          <p:cNvSpPr>
            <a:spLocks noGrp="1"/>
          </p:cNvSpPr>
          <p:nvPr>
            <p:ph idx="1"/>
          </p:nvPr>
        </p:nvSpPr>
        <p:spPr>
          <a:xfrm rot="5140169">
            <a:off x="3478667" y="1772207"/>
            <a:ext cx="2628368" cy="3305838"/>
          </a:xfrm>
        </p:spPr>
        <p:txBody>
          <a:bodyPr/>
          <a:lstStyle/>
          <a:p>
            <a:pPr lvl="1"/>
            <a:endParaRPr lang="en-US" dirty="0" smtClean="0"/>
          </a:p>
          <a:p>
            <a:pPr lvl="1"/>
            <a:endParaRPr lang="en-US" dirty="0"/>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104786" y="1850354"/>
            <a:ext cx="5982427" cy="4065343"/>
          </a:xfrm>
          <a:prstGeom prst="rect">
            <a:avLst/>
          </a:prstGeom>
          <a:noFill/>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3200" b="1" dirty="0" smtClean="0">
                <a:solidFill>
                  <a:srgbClr val="FF0000"/>
                </a:solidFill>
                <a:latin typeface="Times New Roman" panose="02020603050405020304" pitchFamily="18" charset="0"/>
                <a:cs typeface="Times New Roman" panose="02020603050405020304" pitchFamily="18" charset="0"/>
              </a:rPr>
              <a:t>EXECUTION PART</a:t>
            </a:r>
          </a:p>
        </p:txBody>
      </p:sp>
      <p:sp>
        <p:nvSpPr>
          <p:cNvPr id="4" name="Date Placeholder 3"/>
          <p:cNvSpPr>
            <a:spLocks noGrp="1"/>
          </p:cNvSpPr>
          <p:nvPr>
            <p:ph type="dt" sz="half" idx="10"/>
          </p:nvPr>
        </p:nvSpPr>
        <p:spPr/>
        <p:txBody>
          <a:bodyPr/>
          <a:lstStyle/>
          <a:p>
            <a:r>
              <a:rPr lang="en-US" dirty="0"/>
              <a:t>CS23533 – FOAI Review</a:t>
            </a:r>
            <a:endParaRPr lang="en-IN" dirty="0"/>
          </a:p>
        </p:txBody>
      </p:sp>
      <p:sp>
        <p:nvSpPr>
          <p:cNvPr id="5" name="Footer Placeholder 4"/>
          <p:cNvSpPr>
            <a:spLocks noGrp="1"/>
          </p:cNvSpPr>
          <p:nvPr>
            <p:ph type="ftr" sz="quarter" idx="11"/>
          </p:nvPr>
        </p:nvSpPr>
        <p:spPr/>
        <p:txBody>
          <a:bodyPr/>
          <a:lstStyle/>
          <a:p>
            <a:r>
              <a:rPr lang="en-US"/>
              <a:t>Department of Computer Science and Engineering</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pPr/>
              <a:t>16</a:t>
            </a:fld>
            <a:endParaRPr lang="en-IN"/>
          </a:p>
        </p:txBody>
      </p:sp>
      <p:sp>
        <p:nvSpPr>
          <p:cNvPr id="8" name="Content Placeholder 7"/>
          <p:cNvSpPr>
            <a:spLocks noGrp="1"/>
          </p:cNvSpPr>
          <p:nvPr>
            <p:ph idx="1"/>
          </p:nvPr>
        </p:nvSpPr>
        <p:spPr>
          <a:xfrm rot="5140169">
            <a:off x="3478667" y="1772207"/>
            <a:ext cx="2628368" cy="3305838"/>
          </a:xfrm>
        </p:spPr>
        <p:txBody>
          <a:bodyPr/>
          <a:lstStyle/>
          <a:p>
            <a:pPr lvl="1"/>
            <a:endParaRPr lang="en-US" dirty="0" smtClean="0"/>
          </a:p>
          <a:p>
            <a:pPr lvl="1"/>
            <a:endParaRPr lang="en-US" dirty="0"/>
          </a:p>
        </p:txBody>
      </p:sp>
      <p:pic>
        <p:nvPicPr>
          <p:cNvPr id="61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3104786" y="2201150"/>
            <a:ext cx="5982427" cy="3363751"/>
          </a:xfrm>
          <a:prstGeom prst="rect">
            <a:avLst/>
          </a:prstGeom>
          <a:noFill/>
        </p:spPr>
      </p:pic>
    </p:spTree>
    <p:extLst>
      <p:ext uri="{BB962C8B-B14F-4D97-AF65-F5344CB8AC3E}">
        <p14:creationId xmlns:p14="http://schemas.microsoft.com/office/powerpoint/2010/main" val="268287074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3200" b="1" dirty="0" smtClean="0">
                <a:solidFill>
                  <a:srgbClr val="FF0000"/>
                </a:solidFill>
                <a:latin typeface="Times New Roman" panose="02020603050405020304" pitchFamily="18" charset="0"/>
                <a:cs typeface="Times New Roman" panose="02020603050405020304" pitchFamily="18" charset="0"/>
              </a:rPr>
              <a:t> EXPLAIN METHODOLOGY</a:t>
            </a:r>
          </a:p>
        </p:txBody>
      </p:sp>
      <p:sp>
        <p:nvSpPr>
          <p:cNvPr id="3" name="Content Placeholder 2"/>
          <p:cNvSpPr>
            <a:spLocks noGrp="1"/>
          </p:cNvSpPr>
          <p:nvPr>
            <p:ph idx="1"/>
          </p:nvPr>
        </p:nvSpPr>
        <p:spPr>
          <a:xfrm>
            <a:off x="766233" y="1903684"/>
            <a:ext cx="10668000" cy="3958682"/>
          </a:xfrm>
        </p:spPr>
        <p:txBody>
          <a:bodyPr/>
          <a:lstStyle/>
          <a:p>
            <a:pPr>
              <a:buClr>
                <a:srgbClr val="CC0000"/>
              </a:buClr>
              <a:buFont typeface="Arial" panose="020B0604020202020204" pitchFamily="34" charset="0"/>
              <a:buChar char="•"/>
              <a:defRPr/>
            </a:pPr>
            <a:r>
              <a:rPr lang="en-US" altLang="en-US" sz="2000" b="1" dirty="0" smtClean="0">
                <a:solidFill>
                  <a:srgbClr val="000000"/>
                </a:solidFill>
                <a:latin typeface="Times New Roman" pitchFamily="18" charset="0"/>
                <a:cs typeface="Times New Roman" pitchFamily="18" charset="0"/>
              </a:rPr>
              <a:t>Data Input &amp; Image Processing: </a:t>
            </a:r>
            <a:r>
              <a:rPr lang="en-US" altLang="en-US" sz="2000" dirty="0" smtClean="0">
                <a:solidFill>
                  <a:srgbClr val="000000"/>
                </a:solidFill>
                <a:latin typeface="Times New Roman" pitchFamily="18" charset="0"/>
                <a:cs typeface="Times New Roman" pitchFamily="18" charset="0"/>
              </a:rPr>
              <a:t>The process begins when a user uploads an image. To ensure the AI model receives a consistent input, the Pillow library is used to open, resize, and convert the image to a standard format (e.g., JPEG). This step minimizes potential errors related to image size or type.</a:t>
            </a:r>
          </a:p>
          <a:p>
            <a:pPr lvl="0">
              <a:buClr>
                <a:srgbClr val="CC0000"/>
              </a:buClr>
              <a:buFont typeface="Arial" panose="020B0604020202020204" pitchFamily="34" charset="0"/>
              <a:buChar char="•"/>
              <a:defRPr/>
            </a:pPr>
            <a:r>
              <a:rPr lang="en-US" altLang="en-US" sz="2000" b="1" dirty="0" smtClean="0">
                <a:solidFill>
                  <a:srgbClr val="000000"/>
                </a:solidFill>
                <a:latin typeface="Times New Roman" pitchFamily="18" charset="0"/>
                <a:cs typeface="Times New Roman" pitchFamily="18" charset="0"/>
              </a:rPr>
              <a:t>Analysis: </a:t>
            </a:r>
            <a:r>
              <a:rPr lang="en-US" altLang="en-US" sz="2000" dirty="0" smtClean="0">
                <a:solidFill>
                  <a:srgbClr val="000000"/>
                </a:solidFill>
                <a:latin typeface="Times New Roman" pitchFamily="18" charset="0"/>
                <a:cs typeface="Times New Roman" pitchFamily="18" charset="0"/>
              </a:rPr>
              <a:t>Gemini's/with </a:t>
            </a:r>
            <a:r>
              <a:rPr lang="en-US" altLang="en-US" sz="2000" dirty="0" err="1" smtClean="0">
                <a:solidFill>
                  <a:srgbClr val="000000"/>
                </a:solidFill>
                <a:latin typeface="Times New Roman" pitchFamily="18" charset="0"/>
                <a:cs typeface="Times New Roman" pitchFamily="18" charset="0"/>
              </a:rPr>
              <a:t>Clarifai’s</a:t>
            </a:r>
            <a:r>
              <a:rPr lang="en-US" altLang="en-US" sz="2000" dirty="0" smtClean="0">
                <a:solidFill>
                  <a:srgbClr val="000000"/>
                </a:solidFill>
                <a:latin typeface="Times New Roman" pitchFamily="18" charset="0"/>
                <a:cs typeface="Times New Roman" pitchFamily="18" charset="0"/>
              </a:rPr>
              <a:t> multimodal capabilities allow it to "see" and "understand" the image content. It identifies distinct food items (e.g., "grilled chicken," "broccoli," "rice"), references its vast knowledge base to estimate nutritional values for the perceived portion sizes, and aggregates this information to compute totals for the entire meal.</a:t>
            </a:r>
          </a:p>
          <a:p>
            <a:pPr lvl="0">
              <a:buClr>
                <a:srgbClr val="CC0000"/>
              </a:buClr>
              <a:buFont typeface="Arial" panose="020B0604020202020204" pitchFamily="34" charset="0"/>
              <a:buChar char="•"/>
              <a:defRPr/>
            </a:pPr>
            <a:r>
              <a:rPr lang="en-US" altLang="en-US" sz="2000" b="1" dirty="0" smtClean="0">
                <a:solidFill>
                  <a:srgbClr val="000000"/>
                </a:solidFill>
                <a:latin typeface="Times New Roman" pitchFamily="18" charset="0"/>
                <a:cs typeface="Times New Roman" pitchFamily="18" charset="0"/>
              </a:rPr>
              <a:t>Report Generation: </a:t>
            </a:r>
            <a:r>
              <a:rPr lang="en-US" altLang="en-US" sz="2000" dirty="0" smtClean="0">
                <a:solidFill>
                  <a:srgbClr val="000000"/>
                </a:solidFill>
                <a:latin typeface="Times New Roman" pitchFamily="18" charset="0"/>
                <a:cs typeface="Times New Roman" pitchFamily="18" charset="0"/>
              </a:rPr>
              <a:t>The Gemini model doesn't just return numbers. Based on the prompt, it synthesizes the data into a comprehensive and readable report. This includes the total calorie count, percentage breakdowns of macronutrients, and a qualitative judgment on whether the meal is balanced, along with suggestions for healthier alternatives or additions.</a:t>
            </a:r>
          </a:p>
          <a:p>
            <a:pPr lvl="0">
              <a:buClr>
                <a:srgbClr val="CC0000"/>
              </a:buClr>
              <a:buFont typeface="Arial" panose="020B0604020202020204" pitchFamily="34" charset="0"/>
              <a:buChar char="•"/>
              <a:defRPr/>
            </a:pPr>
            <a:endParaRPr lang="en-US" altLang="en-US" sz="2000" dirty="0" smtClean="0">
              <a:solidFill>
                <a:srgbClr val="00000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dirty="0"/>
              <a:t>CS23533 – FOAI Review</a:t>
            </a:r>
            <a:endParaRPr lang="en-IN" dirty="0"/>
          </a:p>
        </p:txBody>
      </p:sp>
      <p:sp>
        <p:nvSpPr>
          <p:cNvPr id="5" name="Footer Placeholder 4"/>
          <p:cNvSpPr>
            <a:spLocks noGrp="1"/>
          </p:cNvSpPr>
          <p:nvPr>
            <p:ph type="ftr" sz="quarter" idx="11"/>
          </p:nvPr>
        </p:nvSpPr>
        <p:spPr/>
        <p:txBody>
          <a:bodyPr/>
          <a:lstStyle/>
          <a:p>
            <a:r>
              <a:rPr lang="en-US"/>
              <a:t>Department of Computer Science and Engineering</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pPr/>
              <a:t>17</a:t>
            </a:fld>
            <a:endParaRPr lang="en-IN"/>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200" b="1" dirty="0">
                <a:solidFill>
                  <a:srgbClr val="FF0000"/>
                </a:solidFill>
                <a:latin typeface="Times New Roman" panose="02020603050405020304" pitchFamily="18" charset="0"/>
                <a:cs typeface="Times New Roman" panose="02020603050405020304" pitchFamily="18" charset="0"/>
              </a:rPr>
              <a:t>SUSTAINABLE DEVELOPMENT GOALS</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defRPr/>
            </a:pPr>
            <a:endParaRPr kumimoji="0" lang="en-IN" altLang="en-US" sz="2800" b="0" i="0" u="none" strike="noStrike" kern="0" cap="none" spc="0" normalizeH="0" baseline="0" noProof="0" dirty="0" smtClean="0">
              <a:ln>
                <a:noFill/>
              </a:ln>
              <a:solidFill>
                <a:srgbClr val="000000"/>
              </a:solidFill>
              <a:effectLst/>
              <a:uLnTx/>
              <a:uFillTx/>
              <a:latin typeface="Verdana" panose="020B0604030504040204"/>
              <a:ea typeface="+mn-ea"/>
              <a:cs typeface="+mn-cs"/>
            </a:endParaRPr>
          </a:p>
          <a:p>
            <a:pPr>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Target 3.4: </a:t>
            </a:r>
            <a:r>
              <a:rPr lang="en-US" sz="2000" dirty="0" smtClean="0">
                <a:latin typeface="Times New Roman" panose="02020603050405020304" pitchFamily="18" charset="0"/>
                <a:cs typeface="Times New Roman" panose="02020603050405020304" pitchFamily="18" charset="0"/>
              </a:rPr>
              <a:t>By promoting nutritional awareness and helping users track their dietary intake, the tool aids in the prevention and control of non-communicable diseases (NCDs) such as obesity, diabetes, and heart conditions, which are often linked to poor diet.</a:t>
            </a:r>
          </a:p>
          <a:p>
            <a:pPr>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Promoting Healthy Lifestyles: </a:t>
            </a:r>
            <a:r>
              <a:rPr lang="en-US" sz="2000" dirty="0" smtClean="0">
                <a:latin typeface="Times New Roman" panose="02020603050405020304" pitchFamily="18" charset="0"/>
                <a:cs typeface="Times New Roman" panose="02020603050405020304" pitchFamily="18" charset="0"/>
              </a:rPr>
              <a:t>The application empowers individuals to make informed decisions about their food choices, fostering a proactive approach to health management.</a:t>
            </a:r>
          </a:p>
          <a:p>
            <a:pPr>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Accessibility: </a:t>
            </a:r>
            <a:r>
              <a:rPr lang="en-US" sz="2000" dirty="0" smtClean="0">
                <a:latin typeface="Times New Roman" panose="02020603050405020304" pitchFamily="18" charset="0"/>
                <a:cs typeface="Times New Roman" panose="02020603050405020304" pitchFamily="18" charset="0"/>
              </a:rPr>
              <a:t>By providing a free and easy-to-use tool, it makes nutritional guidance more accessible to a wider population, reducing inequalities in access to health information.</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The project leverages technology to support preventive healthcare, a key component of building sustainable and healthy communities.</a:t>
            </a:r>
            <a:endParaRPr lang="en-IN"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dirty="0"/>
              <a:t>CS23533 – FOAI Review</a:t>
            </a:r>
            <a:endParaRPr lang="en-IN" dirty="0"/>
          </a:p>
        </p:txBody>
      </p:sp>
      <p:sp>
        <p:nvSpPr>
          <p:cNvPr id="5" name="Footer Placeholder 4"/>
          <p:cNvSpPr>
            <a:spLocks noGrp="1"/>
          </p:cNvSpPr>
          <p:nvPr>
            <p:ph type="ftr" sz="quarter" idx="11"/>
          </p:nvPr>
        </p:nvSpPr>
        <p:spPr/>
        <p:txBody>
          <a:bodyPr/>
          <a:lstStyle/>
          <a:p>
            <a:r>
              <a:rPr lang="en-US"/>
              <a:t>Department of Computer Science and Engineering</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pPr/>
              <a:t>18</a:t>
            </a:fld>
            <a:endParaRPr lang="en-IN"/>
          </a:p>
        </p:txBody>
      </p:sp>
    </p:spTree>
    <p:extLst>
      <p:ext uri="{BB962C8B-B14F-4D97-AF65-F5344CB8AC3E}">
        <p14:creationId xmlns:p14="http://schemas.microsoft.com/office/powerpoint/2010/main" val="214082780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200" b="1" dirty="0" smtClean="0">
                <a:solidFill>
                  <a:srgbClr val="FF0000"/>
                </a:solidFill>
                <a:latin typeface="Times New Roman" panose="02020603050405020304" pitchFamily="18" charset="0"/>
                <a:cs typeface="Times New Roman" panose="02020603050405020304" pitchFamily="18" charset="0"/>
              </a:rPr>
              <a:t>REFERENCES</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795" y="1345406"/>
            <a:ext cx="10668000" cy="4267200"/>
          </a:xfrm>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defRPr/>
            </a:pPr>
            <a:endParaRPr kumimoji="0" lang="en-IN" altLang="en-US" sz="2800" b="0" i="0" u="none" strike="noStrike" kern="0" cap="none" spc="0" normalizeH="0" baseline="0" noProof="0" dirty="0" smtClean="0">
              <a:ln>
                <a:noFill/>
              </a:ln>
              <a:solidFill>
                <a:srgbClr val="000000"/>
              </a:solidFill>
              <a:effectLst/>
              <a:uLnTx/>
              <a:uFillTx/>
              <a:latin typeface="Verdana" panose="020B0604030504040204"/>
              <a:ea typeface="+mn-ea"/>
              <a:cs typeface="+mn-cs"/>
            </a:endParaRPr>
          </a:p>
          <a:p>
            <a:pPr>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1. Zhou et al., 2021 – Food Recognition Using Deep CNNs.</a:t>
            </a:r>
          </a:p>
          <a:p>
            <a:pPr>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2. </a:t>
            </a:r>
            <a:r>
              <a:rPr lang="en-US" sz="2400" dirty="0" err="1" smtClean="0">
                <a:latin typeface="Times New Roman" panose="02020603050405020304" pitchFamily="18" charset="0"/>
                <a:cs typeface="Times New Roman" panose="02020603050405020304" pitchFamily="18" charset="0"/>
              </a:rPr>
              <a:t>Mekhmoukh</a:t>
            </a:r>
            <a:r>
              <a:rPr lang="en-US" sz="2400" dirty="0" smtClean="0">
                <a:latin typeface="Times New Roman" panose="02020603050405020304" pitchFamily="18" charset="0"/>
                <a:cs typeface="Times New Roman" panose="02020603050405020304" pitchFamily="18" charset="0"/>
              </a:rPr>
              <a:t> et al., 2022 – AI in Personalized Nutrition.</a:t>
            </a:r>
          </a:p>
          <a:p>
            <a:pPr>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3. Singh et al., 2023 – Nutrient Estimation with Computer Vision.</a:t>
            </a:r>
          </a:p>
          <a:p>
            <a:pPr>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4. Lee et al., 2023 – Deep-Learning Calorie Estimator.</a:t>
            </a:r>
          </a:p>
          <a:p>
            <a:pPr>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5. Chen et al., 2024 – Multimodal AI for Food Analysis.</a:t>
            </a:r>
          </a:p>
          <a:p>
            <a:pPr>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6. Ahmad et al., 2020 – Food Image Segmentation for Calorie Prediction.</a:t>
            </a:r>
          </a:p>
          <a:p>
            <a:pPr>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7. Kim et al., 2021 – AI-Based Meal Classification for Health Apps.</a:t>
            </a:r>
          </a:p>
          <a:p>
            <a:pPr>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8. Patel et al., 2022 – Automated Dietary Assessment Tools.</a:t>
            </a:r>
          </a:p>
          <a:p>
            <a:pPr>
              <a:buNone/>
            </a:pPr>
            <a:endParaRPr lang="en-US" sz="2000" dirty="0" smtClean="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dirty="0"/>
              <a:t>CS23533 – FOAI Review</a:t>
            </a:r>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pPr/>
              <a:t>19</a:t>
            </a:fld>
            <a:endParaRPr lang="en-IN" dirty="0"/>
          </a:p>
        </p:txBody>
      </p:sp>
    </p:spTree>
    <p:extLst>
      <p:ext uri="{BB962C8B-B14F-4D97-AF65-F5344CB8AC3E}">
        <p14:creationId xmlns:p14="http://schemas.microsoft.com/office/powerpoint/2010/main" val="214082780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200" b="1" dirty="0" smtClean="0">
                <a:solidFill>
                  <a:srgbClr val="FF0000"/>
                </a:solidFill>
                <a:latin typeface="Times New Roman" panose="02020603050405020304" pitchFamily="18" charset="0"/>
                <a:cs typeface="Times New Roman" panose="02020603050405020304" pitchFamily="18" charset="0"/>
              </a:rPr>
              <a:t>REFERENCES</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09895" y="2093563"/>
            <a:ext cx="10668000" cy="4267200"/>
          </a:xfrm>
        </p:spPr>
        <p:txBody>
          <a:bodyPr/>
          <a:lstStyle/>
          <a:p>
            <a:pPr marL="0" indent="0">
              <a:buClr>
                <a:srgbClr val="CC0000"/>
              </a:buClr>
              <a:buFont typeface="Arial" pitchFamily="34" charset="0"/>
              <a:buChar char="•"/>
              <a:defRPr/>
            </a:pPr>
            <a:r>
              <a:rPr lang="en-IN" altLang="en-US" sz="2400" dirty="0" smtClean="0">
                <a:solidFill>
                  <a:srgbClr val="000000"/>
                </a:solidFill>
                <a:latin typeface="Times New Roman" pitchFamily="18" charset="0"/>
                <a:cs typeface="Times New Roman" pitchFamily="18" charset="0"/>
              </a:rPr>
              <a:t> </a:t>
            </a:r>
            <a:r>
              <a:rPr lang="en-US" sz="2400" dirty="0" smtClean="0">
                <a:latin typeface="Times New Roman" panose="02020603050405020304" pitchFamily="18" charset="0"/>
                <a:cs typeface="Times New Roman" panose="02020603050405020304" pitchFamily="18" charset="0"/>
              </a:rPr>
              <a:t>9. Gupta et al., 2022 – Food Portion Estimation Using Computer Vision.</a:t>
            </a:r>
          </a:p>
          <a:p>
            <a:pPr marL="0" indent="0">
              <a:buClr>
                <a:srgbClr val="CC0000"/>
              </a:buClr>
              <a:buFont typeface="Arial" pitchFamily="34" charset="0"/>
              <a:buChar char="•"/>
              <a:defRPr/>
            </a:pPr>
            <a:r>
              <a:rPr lang="en-US" sz="2400" dirty="0" smtClean="0">
                <a:latin typeface="Times New Roman" panose="02020603050405020304" pitchFamily="18" charset="0"/>
                <a:cs typeface="Times New Roman" panose="02020603050405020304" pitchFamily="18" charset="0"/>
              </a:rPr>
              <a:t>10. Sharma et al., 2023 – Smart Health Monitoring with AI.</a:t>
            </a:r>
          </a:p>
          <a:p>
            <a:pPr marL="0" indent="0">
              <a:buClr>
                <a:srgbClr val="CC0000"/>
              </a:buClr>
              <a:buFont typeface="Arial" pitchFamily="34" charset="0"/>
              <a:buChar char="•"/>
              <a:defRPr/>
            </a:pPr>
            <a:r>
              <a:rPr lang="en-US" sz="2400" dirty="0" smtClean="0">
                <a:latin typeface="Times New Roman" panose="02020603050405020304" pitchFamily="18" charset="0"/>
                <a:cs typeface="Times New Roman" panose="02020603050405020304" pitchFamily="18" charset="0"/>
              </a:rPr>
              <a:t>11. Li et al., 2023 – Calorie Estimation via Deep Learning.</a:t>
            </a:r>
          </a:p>
          <a:p>
            <a:pPr marL="0" indent="0">
              <a:buClr>
                <a:srgbClr val="CC0000"/>
              </a:buClr>
              <a:buFont typeface="Arial" pitchFamily="34" charset="0"/>
              <a:buChar char="•"/>
              <a:defRPr/>
            </a:pPr>
            <a:r>
              <a:rPr lang="en-US" sz="2400" dirty="0" smtClean="0">
                <a:latin typeface="Times New Roman" panose="02020603050405020304" pitchFamily="18" charset="0"/>
                <a:cs typeface="Times New Roman" panose="02020603050405020304" pitchFamily="18" charset="0"/>
              </a:rPr>
              <a:t>12. Wang et al., 2024 – Image-Based Dietary Assessment Systems.</a:t>
            </a:r>
          </a:p>
          <a:p>
            <a:pPr marL="0" indent="0">
              <a:buClr>
                <a:srgbClr val="CC0000"/>
              </a:buClr>
              <a:buFont typeface="Arial" pitchFamily="34" charset="0"/>
              <a:buChar char="•"/>
              <a:defRPr/>
            </a:pPr>
            <a:r>
              <a:rPr lang="en-US" sz="2400" dirty="0" smtClean="0">
                <a:latin typeface="Times New Roman" panose="02020603050405020304" pitchFamily="18" charset="0"/>
                <a:cs typeface="Times New Roman" panose="02020603050405020304" pitchFamily="18" charset="0"/>
              </a:rPr>
              <a:t>13. Das et al., 2024 – Integrating AI and </a:t>
            </a:r>
            <a:r>
              <a:rPr lang="en-US" sz="2400" dirty="0" err="1" smtClean="0">
                <a:latin typeface="Times New Roman" panose="02020603050405020304" pitchFamily="18" charset="0"/>
                <a:cs typeface="Times New Roman" panose="02020603050405020304" pitchFamily="18" charset="0"/>
              </a:rPr>
              <a:t>IoT</a:t>
            </a:r>
            <a:r>
              <a:rPr lang="en-US" sz="2400" dirty="0" smtClean="0">
                <a:latin typeface="Times New Roman" panose="02020603050405020304" pitchFamily="18" charset="0"/>
                <a:cs typeface="Times New Roman" panose="02020603050405020304" pitchFamily="18" charset="0"/>
              </a:rPr>
              <a:t> for Health Analytics.</a:t>
            </a:r>
          </a:p>
          <a:p>
            <a:pPr marL="0" indent="0">
              <a:buClr>
                <a:srgbClr val="CC0000"/>
              </a:buClr>
              <a:buFont typeface="Arial" pitchFamily="34" charset="0"/>
              <a:buChar char="•"/>
              <a:defRPr/>
            </a:pPr>
            <a:r>
              <a:rPr lang="en-US" sz="2400" dirty="0" smtClean="0">
                <a:latin typeface="Times New Roman" panose="02020603050405020304" pitchFamily="18" charset="0"/>
                <a:cs typeface="Times New Roman" panose="02020603050405020304" pitchFamily="18" charset="0"/>
              </a:rPr>
              <a:t>14. </a:t>
            </a:r>
            <a:r>
              <a:rPr lang="en-US" sz="2400" dirty="0" err="1" smtClean="0">
                <a:latin typeface="Times New Roman" panose="02020603050405020304" pitchFamily="18" charset="0"/>
                <a:cs typeface="Times New Roman" panose="02020603050405020304" pitchFamily="18" charset="0"/>
              </a:rPr>
              <a:t>Pandey</a:t>
            </a:r>
            <a:r>
              <a:rPr lang="en-US" sz="2400" dirty="0" smtClean="0">
                <a:latin typeface="Times New Roman" panose="02020603050405020304" pitchFamily="18" charset="0"/>
                <a:cs typeface="Times New Roman" panose="02020603050405020304" pitchFamily="18" charset="0"/>
              </a:rPr>
              <a:t> et al., 2024 – Machine Learning in Nutrition Forecasting.</a:t>
            </a:r>
          </a:p>
          <a:p>
            <a:pPr marL="0" indent="0">
              <a:buClr>
                <a:srgbClr val="CC0000"/>
              </a:buClr>
              <a:buFont typeface="Arial" pitchFamily="34" charset="0"/>
              <a:buChar char="•"/>
              <a:defRPr/>
            </a:pPr>
            <a:r>
              <a:rPr lang="en-US" sz="2400" dirty="0" smtClean="0">
                <a:latin typeface="Times New Roman" panose="02020603050405020304" pitchFamily="18" charset="0"/>
                <a:cs typeface="Times New Roman" panose="02020603050405020304" pitchFamily="18" charset="0"/>
              </a:rPr>
              <a:t>15. Kumar et al., 2024 – Gemini AI for Multimodal Health Applications.</a:t>
            </a:r>
            <a:endParaRPr lang="en-IN"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dirty="0"/>
              <a:t>CS23533 – FOAI Review</a:t>
            </a:r>
            <a:endParaRPr lang="en-IN" dirty="0"/>
          </a:p>
        </p:txBody>
      </p:sp>
      <p:sp>
        <p:nvSpPr>
          <p:cNvPr id="5" name="Footer Placeholder 4"/>
          <p:cNvSpPr>
            <a:spLocks noGrp="1"/>
          </p:cNvSpPr>
          <p:nvPr>
            <p:ph type="ftr" sz="quarter" idx="11"/>
          </p:nvPr>
        </p:nvSpPr>
        <p:spPr/>
        <p:txBody>
          <a:bodyPr/>
          <a:lstStyle/>
          <a:p>
            <a:r>
              <a:rPr lang="en-US"/>
              <a:t>Department of Computer Science and Engineering</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pPr/>
              <a:t>20</a:t>
            </a:fld>
            <a:endParaRPr lang="en-IN"/>
          </a:p>
        </p:txBody>
      </p:sp>
    </p:spTree>
    <p:extLst>
      <p:ext uri="{BB962C8B-B14F-4D97-AF65-F5344CB8AC3E}">
        <p14:creationId xmlns:p14="http://schemas.microsoft.com/office/powerpoint/2010/main" val="214082780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3168074"/>
            <a:ext cx="10668000" cy="1216025"/>
          </a:xfrm>
        </p:spPr>
        <p:txBody>
          <a:bodyPr anchor="ctr"/>
          <a:lstStyle/>
          <a:p>
            <a:pPr algn="ctr"/>
            <a:r>
              <a:rPr lang="en-IN" altLang="en-US" sz="4000" b="1" dirty="0">
                <a:solidFill>
                  <a:srgbClr val="FF0000"/>
                </a:solidFill>
              </a:rPr>
              <a:t>Thank You</a:t>
            </a:r>
            <a:endParaRPr lang="en-IN" dirty="0"/>
          </a:p>
        </p:txBody>
      </p:sp>
      <p:sp>
        <p:nvSpPr>
          <p:cNvPr id="3" name="Footer Placeholder 2"/>
          <p:cNvSpPr>
            <a:spLocks noGrp="1"/>
          </p:cNvSpPr>
          <p:nvPr>
            <p:ph type="ftr" sz="quarter" idx="11"/>
          </p:nvPr>
        </p:nvSpPr>
        <p:spPr/>
        <p:txBody>
          <a:bodyPr/>
          <a:lstStyle/>
          <a:p>
            <a:pPr>
              <a:defRPr/>
            </a:pPr>
            <a:r>
              <a:rPr lang="en-US"/>
              <a:t>Department of Computer Science and Engineering</a:t>
            </a:r>
          </a:p>
        </p:txBody>
      </p:sp>
      <p:sp>
        <p:nvSpPr>
          <p:cNvPr id="4" name="Slide Number Placeholder 3"/>
          <p:cNvSpPr>
            <a:spLocks noGrp="1"/>
          </p:cNvSpPr>
          <p:nvPr>
            <p:ph type="sldNum" sz="quarter" idx="12"/>
          </p:nvPr>
        </p:nvSpPr>
        <p:spPr/>
        <p:txBody>
          <a:bodyPr/>
          <a:lstStyle/>
          <a:p>
            <a:pPr>
              <a:defRPr/>
            </a:pPr>
            <a:fld id="{F583B680-F650-469F-A231-392F163461F6}" type="slidenum">
              <a:rPr lang="en-US" altLang="en-US" smtClean="0"/>
              <a:pPr>
                <a:defRPr/>
              </a:pPr>
              <a:t>21</a:t>
            </a:fld>
            <a:endParaRPr lang="en-US" altLang="en-US" dirty="0"/>
          </a:p>
        </p:txBody>
      </p:sp>
      <p:sp>
        <p:nvSpPr>
          <p:cNvPr id="5" name="Date Placeholder 4"/>
          <p:cNvSpPr>
            <a:spLocks noGrp="1"/>
          </p:cNvSpPr>
          <p:nvPr>
            <p:ph type="dt" sz="half" idx="10"/>
          </p:nvPr>
        </p:nvSpPr>
        <p:spPr/>
        <p:txBody>
          <a:bodyPr/>
          <a:lstStyle/>
          <a:p>
            <a:r>
              <a:rPr lang="en-US" dirty="0"/>
              <a:t>CS23533 – FOAI Review</a:t>
            </a:r>
            <a:endParaRPr lang="en-IN"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4.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5.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6.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7.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8.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9.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0.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otalTime>1284</TotalTime>
  <Words>2495</Words>
  <Application>Microsoft Office PowerPoint</Application>
  <PresentationFormat>Widescreen</PresentationFormat>
  <Paragraphs>271</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Times New Roman</vt:lpstr>
      <vt:lpstr>Verdana</vt:lpstr>
      <vt:lpstr>Wingdings</vt:lpstr>
      <vt:lpstr>Profile</vt:lpstr>
      <vt:lpstr>PowerPoint Presentation</vt:lpstr>
      <vt:lpstr>ABSTRACT </vt:lpstr>
      <vt:lpstr>INTRODUCTION</vt:lpstr>
      <vt:lpstr>OBJECTIVES</vt:lpstr>
      <vt:lpstr>LITERATURE REVIEW</vt:lpstr>
      <vt:lpstr>LITERATURE REVIEW</vt:lpstr>
      <vt:lpstr>LITERATURE REVIEW</vt:lpstr>
      <vt:lpstr>LITERATURE REVIEW</vt:lpstr>
      <vt:lpstr>LITERATURE REVIEW</vt:lpstr>
      <vt:lpstr>LITERATURE REVIEW</vt:lpstr>
      <vt:lpstr>LITERATURE REVIEW</vt:lpstr>
      <vt:lpstr>EXISTING SYSTEM</vt:lpstr>
      <vt:lpstr>PROPOSED METHOD</vt:lpstr>
      <vt:lpstr> METHODOLOGY</vt:lpstr>
      <vt:lpstr> ARCHITECTURE DIAGRAM</vt:lpstr>
      <vt:lpstr>EXECUTION PART</vt:lpstr>
      <vt:lpstr> EXPLAIN METHODOLOGY</vt:lpstr>
      <vt:lpstr>SUSTAINABLE DEVELOPMENT GOALS</vt:lpstr>
      <vt:lpstr>REFERENCES</vt:lpstr>
      <vt:lpstr>REFERENCES</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Elumalai</dc:creator>
  <cp:lastModifiedBy>Microsoft account</cp:lastModifiedBy>
  <cp:revision>53</cp:revision>
  <dcterms:created xsi:type="dcterms:W3CDTF">2023-08-03T04:32:00Z</dcterms:created>
  <dcterms:modified xsi:type="dcterms:W3CDTF">2025-10-30T03:21:56Z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3AB42A795A1E492FAFD2A024C6270670_13</vt:lpwstr>
  </property>
  <property fmtid="{D5CDD505-2E9C-101B-9397-08002B2CF9AE}" pid="3" name="KSOProductBuildVer">
    <vt:lpwstr>1033-12.2.0.22549</vt:lpwstr>
  </property>
</Properties>
</file>